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Relationship Id="rId6" Type="http://schemas.openxmlformats.org/officeDocument/2006/relationships/image" Target="../media/image2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Relationship Id="rId4" Type="http://schemas.openxmlformats.org/officeDocument/2006/relationships/image" Target="../media/image2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914400"/>
            <a:ext cx="95250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>
                <a:solidFill>
                  <a:srgbClr val="4CD7F6"/>
                </a:solidFill>
                <a:latin typeface="Space Grotesk"/>
              </a:rPr>
              <a:t>GAMES CATEGORY · 2026</a:t>
            </a:r>
          </a:p>
        </p:txBody>
      </p:sp>
      <p:pic>
        <p:nvPicPr>
          <p:cNvPr id="3" name="Picture 2" descr="affiat-emblem_48x4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323850"/>
            <a:ext cx="457200" cy="438150"/>
          </a:xfrm>
          <a:prstGeom prst="rect">
            <a:avLst/>
          </a:prstGeom>
        </p:spPr>
      </p:pic>
      <p:pic>
        <p:nvPicPr>
          <p:cNvPr id="4" name="Picture 3" descr="technofuture-white_113x2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0150" y="438150"/>
            <a:ext cx="1076325" cy="20955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2409825" y="381000"/>
            <a:ext cx="9525" cy="323850"/>
          </a:xfrm>
          <a:prstGeom prst="rect">
            <a:avLst/>
          </a:prstGeom>
          <a:solidFill>
            <a:srgbClr val="CBC3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552700" y="447675"/>
            <a:ext cx="571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75" b="1">
                <a:solidFill>
                  <a:srgbClr val="4CD7F6"/>
                </a:solidFill>
                <a:latin typeface="Space Grotesk"/>
              </a:rPr>
              <a:t>AFFIAT · ASWAN FINALS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1333500"/>
            <a:ext cx="7239000" cy="2000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6900" b="1">
                <a:solidFill>
                  <a:srgbClr val="FFFFFF"/>
                </a:solidFill>
                <a:latin typeface="Space Grotesk"/>
              </a:rPr>
              <a:t>Pixel Verse Studios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3543300"/>
            <a:ext cx="74295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300" b="0">
                <a:solidFill>
                  <a:srgbClr val="D0BCFF"/>
                </a:solidFill>
                <a:latin typeface="Jersey 10"/>
              </a:rPr>
              <a:t>Real science, hidden in play.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4305300"/>
            <a:ext cx="60960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50" b="0">
                <a:solidFill>
                  <a:srgbClr val="CBC3D7"/>
                </a:solidFill>
                <a:latin typeface="Inter"/>
              </a:rPr>
              <a:t>Two 16-bit games for ages 5 to 99. Dodge ocean trash. Fly to Jupiter's icy moon. Every fact in them is real.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477250" y="1333500"/>
            <a:ext cx="2857500" cy="28575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382000" y="1238250"/>
            <a:ext cx="2857500" cy="2857500"/>
          </a:xfrm>
          <a:prstGeom prst="rect">
            <a:avLst/>
          </a:prstGeom>
          <a:solidFill>
            <a:srgbClr val="1C1F29"/>
          </a:solidFill>
          <a:ln w="38100">
            <a:solidFill>
              <a:srgbClr val="D0B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logo_276x27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96300" y="1352550"/>
            <a:ext cx="2628900" cy="2628900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0" y="6629400"/>
            <a:ext cx="228600" cy="228600"/>
          </a:xfrm>
          <a:prstGeom prst="rect">
            <a:avLst/>
          </a:prstGeom>
          <a:solidFill>
            <a:srgbClr val="D0B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28600" y="6629400"/>
            <a:ext cx="228600" cy="228600"/>
          </a:xfrm>
          <a:prstGeom prst="rect">
            <a:avLst/>
          </a:prstGeom>
          <a:solidFill>
            <a:srgbClr val="4CD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6629400"/>
            <a:ext cx="228600" cy="228600"/>
          </a:xfrm>
          <a:prstGeom prst="rect">
            <a:avLst/>
          </a:prstGeom>
          <a:solidFill>
            <a:srgbClr val="4EDE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85800" y="6629400"/>
            <a:ext cx="228600" cy="228600"/>
          </a:xfrm>
          <a:prstGeom prst="rect">
            <a:avLst/>
          </a:prstGeom>
          <a:solidFill>
            <a:srgbClr val="D0B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14400" y="6629400"/>
            <a:ext cx="228600" cy="228600"/>
          </a:xfrm>
          <a:prstGeom prst="rect">
            <a:avLst/>
          </a:prstGeom>
          <a:solidFill>
            <a:srgbClr val="4CD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143000" y="6629400"/>
            <a:ext cx="228600" cy="228600"/>
          </a:xfrm>
          <a:prstGeom prst="rect">
            <a:avLst/>
          </a:prstGeom>
          <a:solidFill>
            <a:srgbClr val="4EDE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0" y="6629400"/>
            <a:ext cx="228600" cy="228600"/>
          </a:xfrm>
          <a:prstGeom prst="rect">
            <a:avLst/>
          </a:prstGeom>
          <a:solidFill>
            <a:srgbClr val="D0B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600200" y="6629400"/>
            <a:ext cx="228600" cy="228600"/>
          </a:xfrm>
          <a:prstGeom prst="rect">
            <a:avLst/>
          </a:prstGeom>
          <a:solidFill>
            <a:srgbClr val="4CD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828800" y="6629400"/>
            <a:ext cx="228600" cy="228600"/>
          </a:xfrm>
          <a:prstGeom prst="rect">
            <a:avLst/>
          </a:prstGeom>
          <a:solidFill>
            <a:srgbClr val="4EDE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057400" y="6629400"/>
            <a:ext cx="228600" cy="228600"/>
          </a:xfrm>
          <a:prstGeom prst="rect">
            <a:avLst/>
          </a:prstGeom>
          <a:solidFill>
            <a:srgbClr val="D0B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286000" y="6629400"/>
            <a:ext cx="228600" cy="228600"/>
          </a:xfrm>
          <a:prstGeom prst="rect">
            <a:avLst/>
          </a:prstGeom>
          <a:solidFill>
            <a:srgbClr val="4CD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514600" y="6629400"/>
            <a:ext cx="228600" cy="228600"/>
          </a:xfrm>
          <a:prstGeom prst="rect">
            <a:avLst/>
          </a:prstGeom>
          <a:solidFill>
            <a:srgbClr val="4EDE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743200" y="6629400"/>
            <a:ext cx="228600" cy="228600"/>
          </a:xfrm>
          <a:prstGeom prst="rect">
            <a:avLst/>
          </a:prstGeom>
          <a:solidFill>
            <a:srgbClr val="D0B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971800" y="6629400"/>
            <a:ext cx="228600" cy="228600"/>
          </a:xfrm>
          <a:prstGeom prst="rect">
            <a:avLst/>
          </a:prstGeom>
          <a:solidFill>
            <a:srgbClr val="4CD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200400" y="6629400"/>
            <a:ext cx="228600" cy="228600"/>
          </a:xfrm>
          <a:prstGeom prst="rect">
            <a:avLst/>
          </a:prstGeom>
          <a:solidFill>
            <a:srgbClr val="4EDE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429000" y="6629400"/>
            <a:ext cx="228600" cy="228600"/>
          </a:xfrm>
          <a:prstGeom prst="rect">
            <a:avLst/>
          </a:prstGeom>
          <a:solidFill>
            <a:srgbClr val="D0B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657600" y="6629400"/>
            <a:ext cx="228600" cy="228600"/>
          </a:xfrm>
          <a:prstGeom prst="rect">
            <a:avLst/>
          </a:prstGeom>
          <a:solidFill>
            <a:srgbClr val="4CD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886200" y="6629400"/>
            <a:ext cx="228600" cy="228600"/>
          </a:xfrm>
          <a:prstGeom prst="rect">
            <a:avLst/>
          </a:prstGeom>
          <a:solidFill>
            <a:srgbClr val="4EDE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114800" y="6629400"/>
            <a:ext cx="228600" cy="228600"/>
          </a:xfrm>
          <a:prstGeom prst="rect">
            <a:avLst/>
          </a:prstGeom>
          <a:solidFill>
            <a:srgbClr val="D0B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343400" y="6629400"/>
            <a:ext cx="228600" cy="228600"/>
          </a:xfrm>
          <a:prstGeom prst="rect">
            <a:avLst/>
          </a:prstGeom>
          <a:solidFill>
            <a:srgbClr val="4CD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572000" y="6629400"/>
            <a:ext cx="228600" cy="228600"/>
          </a:xfrm>
          <a:prstGeom prst="rect">
            <a:avLst/>
          </a:prstGeom>
          <a:solidFill>
            <a:srgbClr val="4EDE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800600" y="6629400"/>
            <a:ext cx="228600" cy="228600"/>
          </a:xfrm>
          <a:prstGeom prst="rect">
            <a:avLst/>
          </a:prstGeom>
          <a:solidFill>
            <a:srgbClr val="D0B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029200" y="6629400"/>
            <a:ext cx="228600" cy="228600"/>
          </a:xfrm>
          <a:prstGeom prst="rect">
            <a:avLst/>
          </a:prstGeom>
          <a:solidFill>
            <a:srgbClr val="4CD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257800" y="6629400"/>
            <a:ext cx="228600" cy="228600"/>
          </a:xfrm>
          <a:prstGeom prst="rect">
            <a:avLst/>
          </a:prstGeom>
          <a:solidFill>
            <a:srgbClr val="4EDE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486400" y="6629400"/>
            <a:ext cx="228600" cy="228600"/>
          </a:xfrm>
          <a:prstGeom prst="rect">
            <a:avLst/>
          </a:prstGeom>
          <a:solidFill>
            <a:srgbClr val="D0B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715000" y="6629400"/>
            <a:ext cx="228600" cy="228600"/>
          </a:xfrm>
          <a:prstGeom prst="rect">
            <a:avLst/>
          </a:prstGeom>
          <a:solidFill>
            <a:srgbClr val="4CD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943600" y="6629400"/>
            <a:ext cx="228600" cy="228600"/>
          </a:xfrm>
          <a:prstGeom prst="rect">
            <a:avLst/>
          </a:prstGeom>
          <a:solidFill>
            <a:srgbClr val="4EDE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172200" y="6629400"/>
            <a:ext cx="228600" cy="228600"/>
          </a:xfrm>
          <a:prstGeom prst="rect">
            <a:avLst/>
          </a:prstGeom>
          <a:solidFill>
            <a:srgbClr val="D0B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400800" y="6629400"/>
            <a:ext cx="228600" cy="228600"/>
          </a:xfrm>
          <a:prstGeom prst="rect">
            <a:avLst/>
          </a:prstGeom>
          <a:solidFill>
            <a:srgbClr val="4CD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629400" y="6629400"/>
            <a:ext cx="228600" cy="228600"/>
          </a:xfrm>
          <a:prstGeom prst="rect">
            <a:avLst/>
          </a:prstGeom>
          <a:solidFill>
            <a:srgbClr val="4EDE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858000" y="6629400"/>
            <a:ext cx="228600" cy="228600"/>
          </a:xfrm>
          <a:prstGeom prst="rect">
            <a:avLst/>
          </a:prstGeom>
          <a:solidFill>
            <a:srgbClr val="D0B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086600" y="6629400"/>
            <a:ext cx="228600" cy="228600"/>
          </a:xfrm>
          <a:prstGeom prst="rect">
            <a:avLst/>
          </a:prstGeom>
          <a:solidFill>
            <a:srgbClr val="4CD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315200" y="6629400"/>
            <a:ext cx="228600" cy="228600"/>
          </a:xfrm>
          <a:prstGeom prst="rect">
            <a:avLst/>
          </a:prstGeom>
          <a:solidFill>
            <a:srgbClr val="4EDE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543800" y="6629400"/>
            <a:ext cx="228600" cy="228600"/>
          </a:xfrm>
          <a:prstGeom prst="rect">
            <a:avLst/>
          </a:prstGeom>
          <a:solidFill>
            <a:srgbClr val="D0B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772400" y="6629400"/>
            <a:ext cx="228600" cy="228600"/>
          </a:xfrm>
          <a:prstGeom prst="rect">
            <a:avLst/>
          </a:prstGeom>
          <a:solidFill>
            <a:srgbClr val="4CD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001000" y="6629400"/>
            <a:ext cx="228600" cy="228600"/>
          </a:xfrm>
          <a:prstGeom prst="rect">
            <a:avLst/>
          </a:prstGeom>
          <a:solidFill>
            <a:srgbClr val="4EDE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8229600" y="6629400"/>
            <a:ext cx="228600" cy="228600"/>
          </a:xfrm>
          <a:prstGeom prst="rect">
            <a:avLst/>
          </a:prstGeom>
          <a:solidFill>
            <a:srgbClr val="D0B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8458200" y="6629400"/>
            <a:ext cx="228600" cy="228600"/>
          </a:xfrm>
          <a:prstGeom prst="rect">
            <a:avLst/>
          </a:prstGeom>
          <a:solidFill>
            <a:srgbClr val="4CD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8686800" y="6629400"/>
            <a:ext cx="228600" cy="228600"/>
          </a:xfrm>
          <a:prstGeom prst="rect">
            <a:avLst/>
          </a:prstGeom>
          <a:solidFill>
            <a:srgbClr val="4EDE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8915400" y="6629400"/>
            <a:ext cx="228600" cy="228600"/>
          </a:xfrm>
          <a:prstGeom prst="rect">
            <a:avLst/>
          </a:prstGeom>
          <a:solidFill>
            <a:srgbClr val="D0B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9144000" y="6629400"/>
            <a:ext cx="228600" cy="228600"/>
          </a:xfrm>
          <a:prstGeom prst="rect">
            <a:avLst/>
          </a:prstGeom>
          <a:solidFill>
            <a:srgbClr val="4CD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9372600" y="6629400"/>
            <a:ext cx="228600" cy="228600"/>
          </a:xfrm>
          <a:prstGeom prst="rect">
            <a:avLst/>
          </a:prstGeom>
          <a:solidFill>
            <a:srgbClr val="4EDE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9601200" y="6629400"/>
            <a:ext cx="228600" cy="228600"/>
          </a:xfrm>
          <a:prstGeom prst="rect">
            <a:avLst/>
          </a:prstGeom>
          <a:solidFill>
            <a:srgbClr val="D0B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9829800" y="6629400"/>
            <a:ext cx="228600" cy="228600"/>
          </a:xfrm>
          <a:prstGeom prst="rect">
            <a:avLst/>
          </a:prstGeom>
          <a:solidFill>
            <a:srgbClr val="4CD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10058400" y="6629400"/>
            <a:ext cx="228600" cy="228600"/>
          </a:xfrm>
          <a:prstGeom prst="rect">
            <a:avLst/>
          </a:prstGeom>
          <a:solidFill>
            <a:srgbClr val="4EDE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10287000" y="6629400"/>
            <a:ext cx="228600" cy="228600"/>
          </a:xfrm>
          <a:prstGeom prst="rect">
            <a:avLst/>
          </a:prstGeom>
          <a:solidFill>
            <a:srgbClr val="D0B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10515600" y="6629400"/>
            <a:ext cx="228600" cy="228600"/>
          </a:xfrm>
          <a:prstGeom prst="rect">
            <a:avLst/>
          </a:prstGeom>
          <a:solidFill>
            <a:srgbClr val="4CD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0744200" y="6629400"/>
            <a:ext cx="228600" cy="228600"/>
          </a:xfrm>
          <a:prstGeom prst="rect">
            <a:avLst/>
          </a:prstGeom>
          <a:solidFill>
            <a:srgbClr val="4EDE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10972800" y="6629400"/>
            <a:ext cx="228600" cy="228600"/>
          </a:xfrm>
          <a:prstGeom prst="rect">
            <a:avLst/>
          </a:prstGeom>
          <a:solidFill>
            <a:srgbClr val="D0B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11201400" y="6629400"/>
            <a:ext cx="228600" cy="228600"/>
          </a:xfrm>
          <a:prstGeom prst="rect">
            <a:avLst/>
          </a:prstGeom>
          <a:solidFill>
            <a:srgbClr val="4CD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11430000" y="6629400"/>
            <a:ext cx="228600" cy="228600"/>
          </a:xfrm>
          <a:prstGeom prst="rect">
            <a:avLst/>
          </a:prstGeom>
          <a:solidFill>
            <a:srgbClr val="4EDE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11658600" y="6629400"/>
            <a:ext cx="228600" cy="228600"/>
          </a:xfrm>
          <a:prstGeom prst="rect">
            <a:avLst/>
          </a:prstGeom>
          <a:solidFill>
            <a:srgbClr val="D0B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11887200" y="6629400"/>
            <a:ext cx="228600" cy="228600"/>
          </a:xfrm>
          <a:prstGeom prst="rect">
            <a:avLst/>
          </a:prstGeom>
          <a:solidFill>
            <a:srgbClr val="4CD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12115800" y="6629400"/>
            <a:ext cx="228600" cy="228600"/>
          </a:xfrm>
          <a:prstGeom prst="rect">
            <a:avLst/>
          </a:prstGeom>
          <a:solidFill>
            <a:srgbClr val="4EDE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3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81000"/>
            <a:ext cx="109728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FFFFFF"/>
                </a:solidFill>
                <a:latin typeface="Space Grotesk"/>
              </a:rPr>
              <a:t>Facts stick when you play them.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649605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75" b="0">
                <a:solidFill>
                  <a:srgbClr val="958EA0"/>
                </a:solidFill>
                <a:latin typeface="Inter"/>
              </a:rPr>
              <a:t>Pixel Verse Studios · AFFIAT · Afro-Asian Forum for Innovation and Technology · Aswan Finals 2026 · Games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96050"/>
            <a:ext cx="609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75" b="0">
                <a:solidFill>
                  <a:srgbClr val="958EA0"/>
                </a:solidFill>
                <a:latin typeface="Inter"/>
              </a:rPr>
              <a:t>2</a:t>
            </a:r>
          </a:p>
        </p:txBody>
      </p:sp>
      <p:sp>
        <p:nvSpPr>
          <p:cNvPr id="5" name="Rectangle 4"/>
          <p:cNvSpPr/>
          <p:nvPr/>
        </p:nvSpPr>
        <p:spPr>
          <a:xfrm>
            <a:off x="666750" y="1485900"/>
            <a:ext cx="5181600" cy="304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09600" y="1428750"/>
            <a:ext cx="5181600" cy="3048000"/>
          </a:xfrm>
          <a:prstGeom prst="rect">
            <a:avLst/>
          </a:prstGeom>
          <a:solidFill>
            <a:srgbClr val="1C1F29"/>
          </a:solidFill>
          <a:ln w="19050">
            <a:solidFill>
              <a:srgbClr val="4944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9545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>
                <a:solidFill>
                  <a:srgbClr val="4CD7F6"/>
                </a:solidFill>
                <a:latin typeface="Space Grotesk"/>
              </a:rPr>
              <a:t>THE PROBLEM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38350"/>
            <a:ext cx="45720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50" b="1">
                <a:solidFill>
                  <a:srgbClr val="FFFFFF"/>
                </a:solidFill>
                <a:latin typeface="Space Grotesk"/>
              </a:rPr>
              <a:t>A fact in a lesson stays a sentence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028950"/>
            <a:ext cx="45720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75" b="0">
                <a:solidFill>
                  <a:srgbClr val="CBC3D7"/>
                </a:solidFill>
                <a:latin typeface="Inter"/>
              </a:rPr>
              <a:t>"Europa hides an ocean." "Plastic hurts sea turtles." A child hears it, and the next day it is gone. Facts feel far away from play.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57950" y="1485900"/>
            <a:ext cx="5181600" cy="304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0" y="1428750"/>
            <a:ext cx="5181600" cy="3048000"/>
          </a:xfrm>
          <a:prstGeom prst="rect">
            <a:avLst/>
          </a:prstGeom>
          <a:solidFill>
            <a:srgbClr val="1C1F29"/>
          </a:solidFill>
          <a:ln w="19050">
            <a:solidFill>
              <a:srgbClr val="D0B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05600" y="169545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>
                <a:solidFill>
                  <a:srgbClr val="4CD7F6"/>
                </a:solidFill>
                <a:latin typeface="Space Grotesk"/>
              </a:rPr>
              <a:t>OUR ANSWER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05600" y="2038350"/>
            <a:ext cx="45720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50" b="1">
                <a:solidFill>
                  <a:srgbClr val="FFFFFF"/>
                </a:solidFill>
                <a:latin typeface="Space Grotesk"/>
              </a:rPr>
              <a:t>Make the fact a game moment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05600" y="3028950"/>
            <a:ext cx="45720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75" b="0">
                <a:solidFill>
                  <a:srgbClr val="CBC3D7"/>
                </a:solidFill>
                <a:latin typeface="Inter"/>
              </a:rPr>
              <a:t>In Crab Quest you dodge the trash. In Space X you fly through Europa's ice. Each fact shows up where it makes sense in the story, and nothing in it is invented.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" y="4953000"/>
            <a:ext cx="109728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50" b="1">
                <a:solidFill>
                  <a:srgbClr val="D0BCFF"/>
                </a:solidFill>
                <a:latin typeface="Space Grotesk"/>
              </a:rPr>
              <a:t>Ages 5 to 99 · short sessions · runs offline on a school computer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3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81000"/>
            <a:ext cx="109728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FFFFFF"/>
                </a:solidFill>
                <a:latin typeface="Space Grotesk"/>
              </a:rPr>
              <a:t>Two games, one studio.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649605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75" b="0">
                <a:solidFill>
                  <a:srgbClr val="958EA0"/>
                </a:solidFill>
                <a:latin typeface="Inter"/>
              </a:rPr>
              <a:t>Pixel Verse Studios · AFFIAT · Afro-Asian Forum for Innovation and Technology · Aswan Finals 2026 · Games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96050"/>
            <a:ext cx="609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75" b="0">
                <a:solidFill>
                  <a:srgbClr val="958EA0"/>
                </a:solidFill>
                <a:latin typeface="Inter"/>
              </a:rPr>
              <a:t>3</a:t>
            </a:r>
          </a:p>
        </p:txBody>
      </p:sp>
      <p:sp>
        <p:nvSpPr>
          <p:cNvPr id="5" name="Rectangle 4"/>
          <p:cNvSpPr/>
          <p:nvPr/>
        </p:nvSpPr>
        <p:spPr>
          <a:xfrm>
            <a:off x="666750" y="1390650"/>
            <a:ext cx="5181600" cy="47625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09600" y="1333500"/>
            <a:ext cx="5181600" cy="4762500"/>
          </a:xfrm>
          <a:prstGeom prst="rect">
            <a:avLst/>
          </a:prstGeom>
          <a:solidFill>
            <a:srgbClr val="1C1F29"/>
          </a:solidFill>
          <a:ln w="19050">
            <a:solidFill>
              <a:srgbClr val="4944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rab-quest-logo_96x9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600200"/>
            <a:ext cx="914400" cy="9144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038350" y="1676400"/>
            <a:ext cx="3429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850" b="1">
                <a:solidFill>
                  <a:srgbClr val="FFFFFF"/>
                </a:solidFill>
                <a:latin typeface="Space Grotesk"/>
              </a:rPr>
              <a:t>Crab Quest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38350" y="2133600"/>
            <a:ext cx="3429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D0BCFF"/>
                </a:solidFill>
                <a:latin typeface="Inter"/>
              </a:rPr>
              <a:t>Six chapters to get home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2943225"/>
            <a:ext cx="114300" cy="114300"/>
          </a:xfrm>
          <a:prstGeom prst="rect">
            <a:avLst/>
          </a:prstGeom>
          <a:solidFill>
            <a:srgbClr val="4EDE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1100" y="2857500"/>
            <a:ext cx="43053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75" b="1">
                <a:solidFill>
                  <a:srgbClr val="FFFFFF"/>
                </a:solidFill>
                <a:latin typeface="Space Grotesk"/>
              </a:rPr>
              <a:t>6 chapters, 6 ways to play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1100" y="3143250"/>
            <a:ext cx="43053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75" b="0">
                <a:solidFill>
                  <a:srgbClr val="CBC3D7"/>
                </a:solidFill>
                <a:latin typeface="Inter"/>
              </a:rPr>
              <a:t>Platforming, dodging, collecting, surviving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3971925"/>
            <a:ext cx="114300" cy="114300"/>
          </a:xfrm>
          <a:prstGeom prst="rect">
            <a:avLst/>
          </a:prstGeom>
          <a:solidFill>
            <a:srgbClr val="4EDE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81100" y="3886200"/>
            <a:ext cx="43053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75" b="1">
                <a:solidFill>
                  <a:srgbClr val="FFFFFF"/>
                </a:solidFill>
                <a:latin typeface="Space Grotesk"/>
              </a:rPr>
              <a:t>Real ocean threats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1100" y="4171950"/>
            <a:ext cx="43053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75" b="0">
                <a:solidFill>
                  <a:srgbClr val="CBC3D7"/>
                </a:solidFill>
                <a:latin typeface="Inter"/>
              </a:rPr>
              <a:t>Birds, trash and a predator fish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5000625"/>
            <a:ext cx="114300" cy="114300"/>
          </a:xfrm>
          <a:prstGeom prst="rect">
            <a:avLst/>
          </a:prstGeom>
          <a:solidFill>
            <a:srgbClr val="4EDE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1100" y="4914900"/>
            <a:ext cx="43053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75" b="1">
                <a:solidFill>
                  <a:srgbClr val="FFFFFF"/>
                </a:solidFill>
                <a:latin typeface="Space Grotesk"/>
              </a:rPr>
              <a:t>Ends in a coral sanctuary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1100" y="5200650"/>
            <a:ext cx="43053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75" b="0">
                <a:solidFill>
                  <a:srgbClr val="CBC3D7"/>
                </a:solidFill>
                <a:latin typeface="Inter"/>
              </a:rPr>
              <a:t>Help a shrimp, then find your family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57950" y="1390650"/>
            <a:ext cx="5181600" cy="47625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0" y="1333500"/>
            <a:ext cx="5181600" cy="4762500"/>
          </a:xfrm>
          <a:prstGeom prst="rect">
            <a:avLst/>
          </a:prstGeom>
          <a:solidFill>
            <a:srgbClr val="1C1F29"/>
          </a:solidFill>
          <a:ln w="19050">
            <a:solidFill>
              <a:srgbClr val="4944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space-x-logo_96x9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05600" y="1600200"/>
            <a:ext cx="914400" cy="9144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829550" y="1676400"/>
            <a:ext cx="3429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850" b="1">
                <a:solidFill>
                  <a:srgbClr val="FFFFFF"/>
                </a:solidFill>
                <a:latin typeface="Space Grotesk"/>
              </a:rPr>
              <a:t>Space X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29550" y="2133600"/>
            <a:ext cx="3429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D0BCFF"/>
                </a:solidFill>
                <a:latin typeface="Inter"/>
              </a:rPr>
              <a:t>Journey to Jupiter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705600" y="2943225"/>
            <a:ext cx="114300" cy="114300"/>
          </a:xfrm>
          <a:prstGeom prst="rect">
            <a:avLst/>
          </a:prstGeom>
          <a:solidFill>
            <a:srgbClr val="4EDE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72300" y="2857500"/>
            <a:ext cx="43053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75" b="1">
                <a:solidFill>
                  <a:srgbClr val="FFFFFF"/>
                </a:solidFill>
                <a:latin typeface="Space Grotesk"/>
              </a:rPr>
              <a:t>4 levels, one mission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72300" y="3143250"/>
            <a:ext cx="43053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75" b="0">
                <a:solidFill>
                  <a:srgbClr val="CBC3D7"/>
                </a:solidFill>
                <a:latin typeface="Inter"/>
              </a:rPr>
              <a:t>Launch pad, Earth orbit, asteroid belt, Europa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705600" y="3971925"/>
            <a:ext cx="114300" cy="114300"/>
          </a:xfrm>
          <a:prstGeom prst="rect">
            <a:avLst/>
          </a:prstGeom>
          <a:solidFill>
            <a:srgbClr val="4EDE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972300" y="3886200"/>
            <a:ext cx="43053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75" b="1">
                <a:solidFill>
                  <a:srgbClr val="FFFFFF"/>
                </a:solidFill>
                <a:latin typeface="Space Grotesk"/>
              </a:rPr>
              <a:t>A fact card after every level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72300" y="4171950"/>
            <a:ext cx="43053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75" b="0">
                <a:solidFill>
                  <a:srgbClr val="CBC3D7"/>
                </a:solidFill>
                <a:latin typeface="Inter"/>
              </a:rPr>
              <a:t>A story line and one science fact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705600" y="5000625"/>
            <a:ext cx="114300" cy="114300"/>
          </a:xfrm>
          <a:prstGeom prst="rect">
            <a:avLst/>
          </a:prstGeom>
          <a:solidFill>
            <a:srgbClr val="4EDE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72300" y="4914900"/>
            <a:ext cx="43053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75" b="1">
                <a:solidFill>
                  <a:srgbClr val="FFFFFF"/>
                </a:solidFill>
                <a:latin typeface="Space Grotesk"/>
              </a:rPr>
              <a:t>A planet fact on every loss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72300" y="5200650"/>
            <a:ext cx="43053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75" b="0">
                <a:solidFill>
                  <a:srgbClr val="CBC3D7"/>
                </a:solidFill>
                <a:latin typeface="Inter"/>
              </a:rPr>
              <a:t>The Sun and all eight planets, with pictures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3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81000"/>
            <a:ext cx="109728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FFFFFF"/>
                </a:solidFill>
                <a:latin typeface="Space Grotesk"/>
              </a:rPr>
              <a:t>Crab Quest: six chapters to get home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649605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75" b="0">
                <a:solidFill>
                  <a:srgbClr val="958EA0"/>
                </a:solidFill>
                <a:latin typeface="Inter"/>
              </a:rPr>
              <a:t>Pixel Verse Studios · AFFIAT · Afro-Asian Forum for Innovation and Technology · Aswan Finals 2026 · Games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96050"/>
            <a:ext cx="609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75" b="0">
                <a:solidFill>
                  <a:srgbClr val="958EA0"/>
                </a:solidFill>
                <a:latin typeface="Inter"/>
              </a:rPr>
              <a:t>4</a:t>
            </a:r>
          </a:p>
        </p:txBody>
      </p:sp>
      <p:pic>
        <p:nvPicPr>
          <p:cNvPr id="5" name="Picture 4" descr="chapter-2_370x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238250"/>
            <a:ext cx="3524250" cy="2286000"/>
          </a:xfrm>
          <a:prstGeom prst="rect">
            <a:avLst/>
          </a:prstGeom>
          <a:ln w="19050">
            <a:solidFill>
              <a:srgbClr val="494454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609600" y="3600450"/>
            <a:ext cx="352425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CBC3D7"/>
                </a:solidFill>
                <a:latin typeface="Inter"/>
              </a:rPr>
              <a:t>Chapter 2 · Beach Run</a:t>
            </a:r>
          </a:p>
        </p:txBody>
      </p:sp>
      <p:pic>
        <p:nvPicPr>
          <p:cNvPr id="7" name="Picture 6" descr="chapter-4_370x24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3875" y="1238250"/>
            <a:ext cx="3524250" cy="2286000"/>
          </a:xfrm>
          <a:prstGeom prst="rect">
            <a:avLst/>
          </a:prstGeom>
          <a:ln w="19050">
            <a:solidFill>
              <a:srgbClr val="494454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4333875" y="3600450"/>
            <a:ext cx="352425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CBC3D7"/>
                </a:solidFill>
                <a:latin typeface="Inter"/>
              </a:rPr>
              <a:t>Chapter 4 · Shrimp Help</a:t>
            </a:r>
          </a:p>
        </p:txBody>
      </p:sp>
      <p:pic>
        <p:nvPicPr>
          <p:cNvPr id="9" name="Picture 8" descr="chapter-5_370x24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58150" y="1238250"/>
            <a:ext cx="3524250" cy="2286000"/>
          </a:xfrm>
          <a:prstGeom prst="rect">
            <a:avLst/>
          </a:prstGeom>
          <a:ln w="19050">
            <a:solidFill>
              <a:srgbClr val="494454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8058150" y="3600450"/>
            <a:ext cx="352425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CBC3D7"/>
                </a:solidFill>
                <a:latin typeface="Inter"/>
              </a:rPr>
              <a:t>Chapter 5 · Predator Chase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9600" y="4343400"/>
            <a:ext cx="1724025" cy="1428750"/>
          </a:xfrm>
          <a:prstGeom prst="rect">
            <a:avLst/>
          </a:prstGeom>
          <a:solidFill>
            <a:srgbClr val="262A34"/>
          </a:solidFill>
          <a:ln w="19050">
            <a:solidFill>
              <a:srgbClr val="4944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2950" y="4419600"/>
            <a:ext cx="5715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4EDEA3"/>
                </a:solidFill>
                <a:latin typeface="Jersey 10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2950" y="4838700"/>
            <a:ext cx="1476375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75" b="1">
                <a:solidFill>
                  <a:srgbClr val="FFFFFF"/>
                </a:solidFill>
                <a:latin typeface="Space Grotesk"/>
              </a:rPr>
              <a:t>Kitchen Escape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2950" y="5334000"/>
            <a:ext cx="1476375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CBC3D7"/>
                </a:solidFill>
                <a:latin typeface="Inter"/>
              </a:rPr>
              <a:t>Jump the counter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447925" y="4343400"/>
            <a:ext cx="1724025" cy="1428750"/>
          </a:xfrm>
          <a:prstGeom prst="rect">
            <a:avLst/>
          </a:prstGeom>
          <a:solidFill>
            <a:srgbClr val="262A34"/>
          </a:solidFill>
          <a:ln w="19050">
            <a:solidFill>
              <a:srgbClr val="4944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581275" y="4419600"/>
            <a:ext cx="5715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4EDEA3"/>
                </a:solidFill>
                <a:latin typeface="Jersey 10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81275" y="4838700"/>
            <a:ext cx="1476375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75" b="1">
                <a:solidFill>
                  <a:srgbClr val="FFFFFF"/>
                </a:solidFill>
                <a:latin typeface="Space Grotesk"/>
              </a:rPr>
              <a:t>Beach Run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81275" y="5334000"/>
            <a:ext cx="1476375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CBC3D7"/>
                </a:solidFill>
                <a:latin typeface="Inter"/>
              </a:rPr>
              <a:t>Dodge birds, 30 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86250" y="4343400"/>
            <a:ext cx="1724025" cy="1428750"/>
          </a:xfrm>
          <a:prstGeom prst="rect">
            <a:avLst/>
          </a:prstGeom>
          <a:solidFill>
            <a:srgbClr val="262A34"/>
          </a:solidFill>
          <a:ln w="19050">
            <a:solidFill>
              <a:srgbClr val="4944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19600" y="4419600"/>
            <a:ext cx="5715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4EDEA3"/>
                </a:solidFill>
                <a:latin typeface="Jersey 10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19600" y="4838700"/>
            <a:ext cx="1476375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75" b="1">
                <a:solidFill>
                  <a:srgbClr val="FFFFFF"/>
                </a:solidFill>
                <a:latin typeface="Space Grotesk"/>
              </a:rPr>
              <a:t>Sea Floor Dodging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19600" y="5334000"/>
            <a:ext cx="1476375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CBC3D7"/>
                </a:solidFill>
                <a:latin typeface="Inter"/>
              </a:rPr>
              <a:t>Dodge trash, 10 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24575" y="4343400"/>
            <a:ext cx="1724025" cy="1428750"/>
          </a:xfrm>
          <a:prstGeom prst="rect">
            <a:avLst/>
          </a:prstGeom>
          <a:solidFill>
            <a:srgbClr val="262A34"/>
          </a:solidFill>
          <a:ln w="19050">
            <a:solidFill>
              <a:srgbClr val="4944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57925" y="4419600"/>
            <a:ext cx="5715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4EDEA3"/>
                </a:solidFill>
                <a:latin typeface="Jersey 10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57925" y="4838700"/>
            <a:ext cx="1476375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75" b="1">
                <a:solidFill>
                  <a:srgbClr val="FFFFFF"/>
                </a:solidFill>
                <a:latin typeface="Space Grotesk"/>
              </a:rPr>
              <a:t>Shrimp Help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57925" y="5334000"/>
            <a:ext cx="1476375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CBC3D7"/>
                </a:solidFill>
                <a:latin typeface="Inter"/>
              </a:rPr>
              <a:t>Collect 17 algae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962900" y="4343400"/>
            <a:ext cx="1724025" cy="1428750"/>
          </a:xfrm>
          <a:prstGeom prst="rect">
            <a:avLst/>
          </a:prstGeom>
          <a:solidFill>
            <a:srgbClr val="262A34"/>
          </a:solidFill>
          <a:ln w="19050">
            <a:solidFill>
              <a:srgbClr val="4944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96250" y="4419600"/>
            <a:ext cx="5715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4EDEA3"/>
                </a:solidFill>
                <a:latin typeface="Jersey 10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96250" y="4838700"/>
            <a:ext cx="1476375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75" b="1">
                <a:solidFill>
                  <a:srgbClr val="FFFFFF"/>
                </a:solidFill>
                <a:latin typeface="Space Grotesk"/>
              </a:rPr>
              <a:t>Predator Chase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96250" y="5334000"/>
            <a:ext cx="1476375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CBC3D7"/>
                </a:solidFill>
                <a:latin typeface="Inter"/>
              </a:rPr>
              <a:t>Survive 45 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801225" y="4343400"/>
            <a:ext cx="1724025" cy="1428750"/>
          </a:xfrm>
          <a:prstGeom prst="rect">
            <a:avLst/>
          </a:prstGeom>
          <a:solidFill>
            <a:srgbClr val="262A34"/>
          </a:solidFill>
          <a:ln w="19050">
            <a:solidFill>
              <a:srgbClr val="4944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934575" y="4419600"/>
            <a:ext cx="5715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4EDEA3"/>
                </a:solidFill>
                <a:latin typeface="Jersey 10"/>
              </a:rPr>
              <a:t>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934575" y="4838700"/>
            <a:ext cx="1476375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75" b="1">
                <a:solidFill>
                  <a:srgbClr val="FFFFFF"/>
                </a:solidFill>
                <a:latin typeface="Space Grotesk"/>
              </a:rPr>
              <a:t>Home Sweet Home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934575" y="5334000"/>
            <a:ext cx="1476375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CBC3D7"/>
                </a:solidFill>
                <a:latin typeface="Inter"/>
              </a:rPr>
              <a:t>Reach your family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3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81000"/>
            <a:ext cx="109728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FFFFFF"/>
                </a:solidFill>
                <a:latin typeface="Space Grotesk"/>
              </a:rPr>
              <a:t>Space X: the Journey to Jupiter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649605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75" b="0">
                <a:solidFill>
                  <a:srgbClr val="958EA0"/>
                </a:solidFill>
                <a:latin typeface="Inter"/>
              </a:rPr>
              <a:t>Pixel Verse Studios · AFFIAT · Afro-Asian Forum for Innovation and Technology · Aswan Finals 2026 · Games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96050"/>
            <a:ext cx="609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75" b="0">
                <a:solidFill>
                  <a:srgbClr val="958EA0"/>
                </a:solidFill>
                <a:latin typeface="Inter"/>
              </a:rPr>
              <a:t>5</a:t>
            </a:r>
          </a:p>
        </p:txBody>
      </p:sp>
      <p:pic>
        <p:nvPicPr>
          <p:cNvPr id="5" name="Picture 4" descr="launch_pad_270x2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238250"/>
            <a:ext cx="2571750" cy="1933575"/>
          </a:xfrm>
          <a:prstGeom prst="rect">
            <a:avLst/>
          </a:prstGeom>
          <a:ln w="19050">
            <a:solidFill>
              <a:srgbClr val="494454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609600" y="3248025"/>
            <a:ext cx="257175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25" b="0">
                <a:solidFill>
                  <a:srgbClr val="CBC3D7"/>
                </a:solidFill>
                <a:latin typeface="Inter"/>
              </a:rPr>
              <a:t>1 · Launch pad: collect 4 items</a:t>
            </a:r>
          </a:p>
        </p:txBody>
      </p:sp>
      <p:pic>
        <p:nvPicPr>
          <p:cNvPr id="7" name="Picture 6" descr="earth_orbit_270x2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09950" y="1238250"/>
            <a:ext cx="2571750" cy="1933575"/>
          </a:xfrm>
          <a:prstGeom prst="rect">
            <a:avLst/>
          </a:prstGeom>
          <a:ln w="19050">
            <a:solidFill>
              <a:srgbClr val="494454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3409950" y="3248025"/>
            <a:ext cx="257175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25" b="0">
                <a:solidFill>
                  <a:srgbClr val="CBC3D7"/>
                </a:solidFill>
                <a:latin typeface="Inter"/>
              </a:rPr>
              <a:t>2 · Earth orbit: dodge 10 junk</a:t>
            </a:r>
          </a:p>
        </p:txBody>
      </p:sp>
      <p:pic>
        <p:nvPicPr>
          <p:cNvPr id="9" name="Picture 8" descr="belt_270x20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0300" y="1238250"/>
            <a:ext cx="2571750" cy="1933575"/>
          </a:xfrm>
          <a:prstGeom prst="rect">
            <a:avLst/>
          </a:prstGeom>
          <a:ln w="19050">
            <a:solidFill>
              <a:srgbClr val="494454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6210300" y="3248025"/>
            <a:ext cx="257175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25" b="0">
                <a:solidFill>
                  <a:srgbClr val="CBC3D7"/>
                </a:solidFill>
                <a:latin typeface="Inter"/>
              </a:rPr>
              <a:t>3 · Asteroid belt: shoot 30</a:t>
            </a:r>
          </a:p>
        </p:txBody>
      </p:sp>
      <p:pic>
        <p:nvPicPr>
          <p:cNvPr id="11" name="Picture 10" descr="europa_270x20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10650" y="1238250"/>
            <a:ext cx="2571750" cy="1933575"/>
          </a:xfrm>
          <a:prstGeom prst="rect">
            <a:avLst/>
          </a:prstGeom>
          <a:ln w="19050">
            <a:solidFill>
              <a:srgbClr val="494454"/>
            </a:solidFill>
          </a:ln>
        </p:spPr>
      </p:pic>
      <p:sp>
        <p:nvSpPr>
          <p:cNvPr id="12" name="TextBox 11"/>
          <p:cNvSpPr txBox="1"/>
          <p:nvPr/>
        </p:nvSpPr>
        <p:spPr>
          <a:xfrm>
            <a:off x="9010650" y="3248025"/>
            <a:ext cx="257175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25" b="0">
                <a:solidFill>
                  <a:srgbClr val="CBC3D7"/>
                </a:solidFill>
                <a:latin typeface="Inter"/>
              </a:rPr>
              <a:t>4 · Europa: break 12 ice chunks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66750" y="3943350"/>
            <a:ext cx="10972800" cy="1905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09600" y="3886200"/>
            <a:ext cx="10972800" cy="1905000"/>
          </a:xfrm>
          <a:prstGeom prst="rect">
            <a:avLst/>
          </a:prstGeom>
          <a:solidFill>
            <a:srgbClr val="1C1F29"/>
          </a:solidFill>
          <a:ln w="19050">
            <a:solidFill>
              <a:srgbClr val="D0B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114800"/>
            <a:ext cx="103632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>
                <a:solidFill>
                  <a:srgbClr val="4CD7F6"/>
                </a:solidFill>
                <a:latin typeface="Space Grotesk"/>
              </a:rPr>
              <a:t>THE HERO'S MISSION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457700"/>
            <a:ext cx="103632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50" b="1">
                <a:solidFill>
                  <a:srgbClr val="FFFFFF"/>
                </a:solidFill>
                <a:latin typeface="Space Grotesk"/>
              </a:rPr>
              <a:t>Fly to Europa, Jupiter's icy moon, and find out if its hidden ocean could hold life.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200650"/>
            <a:ext cx="103632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CBC3D7"/>
                </a:solidFill>
                <a:latin typeface="Inter"/>
              </a:rPr>
              <a:t>Lose all 3 hearts and the level restarts. Win level 4 and the Hero reaches Jupiter.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3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81000"/>
            <a:ext cx="109728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FFFFFF"/>
                </a:solidFill>
                <a:latin typeface="Space Grotesk"/>
              </a:rPr>
              <a:t>Learning happens at the moment it matters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649605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75" b="0">
                <a:solidFill>
                  <a:srgbClr val="958EA0"/>
                </a:solidFill>
                <a:latin typeface="Inter"/>
              </a:rPr>
              <a:t>Pixel Verse Studios · AFFIAT · Afro-Asian Forum for Innovation and Technology · Aswan Finals 2026 · Games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96050"/>
            <a:ext cx="609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75" b="0">
                <a:solidFill>
                  <a:srgbClr val="958EA0"/>
                </a:solidFill>
                <a:latin typeface="Inter"/>
              </a:rPr>
              <a:t>6</a:t>
            </a:r>
          </a:p>
        </p:txBody>
      </p:sp>
      <p:pic>
        <p:nvPicPr>
          <p:cNvPr id="5" name="Picture 4" descr="fact_card_372x27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238250"/>
            <a:ext cx="3543300" cy="2657475"/>
          </a:xfrm>
          <a:prstGeom prst="rect">
            <a:avLst/>
          </a:prstGeom>
          <a:ln w="19050">
            <a:solidFill>
              <a:srgbClr val="494454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609600" y="3971925"/>
            <a:ext cx="35433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CBC3D7"/>
                </a:solidFill>
                <a:latin typeface="Inter"/>
              </a:rPr>
              <a:t>A fact card after every level</a:t>
            </a:r>
          </a:p>
        </p:txBody>
      </p:sp>
      <p:pic>
        <p:nvPicPr>
          <p:cNvPr id="7" name="Picture 6" descr="game_over_372x27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8650" y="1238250"/>
            <a:ext cx="3543300" cy="2657475"/>
          </a:xfrm>
          <a:prstGeom prst="rect">
            <a:avLst/>
          </a:prstGeom>
          <a:ln w="19050">
            <a:solidFill>
              <a:srgbClr val="494454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4438650" y="3971925"/>
            <a:ext cx="35433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CBC3D7"/>
                </a:solidFill>
                <a:latin typeface="Inter"/>
              </a:rPr>
              <a:t>A planet fact on every game over</a:t>
            </a:r>
          </a:p>
        </p:txBody>
      </p:sp>
      <p:pic>
        <p:nvPicPr>
          <p:cNvPr id="9" name="Picture 8" descr="win_372x27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67700" y="1238250"/>
            <a:ext cx="3543300" cy="2657475"/>
          </a:xfrm>
          <a:prstGeom prst="rect">
            <a:avLst/>
          </a:prstGeom>
          <a:ln w="19050">
            <a:solidFill>
              <a:srgbClr val="494454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8267700" y="3971925"/>
            <a:ext cx="35433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CBC3D7"/>
                </a:solidFill>
                <a:latin typeface="Inter"/>
              </a:rPr>
              <a:t>The win screen on Jupiter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4400550"/>
            <a:ext cx="109728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FFFFFF"/>
                </a:solidFill>
                <a:latin typeface="Space Grotesk"/>
              </a:rPr>
              <a:t>The Sun and all eight planets, each with a picture and a short fact.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600" y="4838700"/>
            <a:ext cx="10972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CBC3D7"/>
                </a:solidFill>
                <a:latin typeface="Inter"/>
              </a:rPr>
              <a:t>The facts live in plain Python lists, so adding a planet or a story line means adding one entry.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3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81000"/>
            <a:ext cx="109728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FFFFFF"/>
                </a:solidFill>
                <a:latin typeface="Space Grotesk"/>
              </a:rPr>
              <a:t>One simple idea: a mode switch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649605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75" b="0">
                <a:solidFill>
                  <a:srgbClr val="958EA0"/>
                </a:solidFill>
                <a:latin typeface="Inter"/>
              </a:rPr>
              <a:t>Pixel Verse Studios · AFFIAT · Afro-Asian Forum for Innovation and Technology · Aswan Finals 2026 · Games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96050"/>
            <a:ext cx="609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75" b="0">
                <a:solidFill>
                  <a:srgbClr val="958EA0"/>
                </a:solidFill>
                <a:latin typeface="Inter"/>
              </a:rPr>
              <a:t>7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1428750"/>
            <a:ext cx="1905000" cy="1619250"/>
          </a:xfrm>
          <a:prstGeom prst="rect">
            <a:avLst/>
          </a:prstGeom>
          <a:solidFill>
            <a:srgbClr val="262A34"/>
          </a:solidFill>
          <a:ln w="19050">
            <a:solidFill>
              <a:srgbClr val="4944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3900" y="1562100"/>
            <a:ext cx="16764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1">
                <a:solidFill>
                  <a:srgbClr val="4CD7F6"/>
                </a:solidFill>
                <a:latin typeface="Space Grotesk"/>
              </a:rPr>
              <a:t>INPUT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3900" y="1847850"/>
            <a:ext cx="16764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725" b="1">
                <a:solidFill>
                  <a:srgbClr val="FFFFFF"/>
                </a:solidFill>
                <a:latin typeface="Space Grotesk"/>
              </a:rPr>
              <a:t>Keyboard · mouse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2950" y="2457450"/>
            <a:ext cx="163830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CBC3D7"/>
                </a:solidFill>
                <a:latin typeface="Inter"/>
              </a:rPr>
              <a:t>arrows, Space, P, R, F and on-screen buttons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14600" y="2038350"/>
            <a:ext cx="3048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1">
                <a:solidFill>
                  <a:srgbClr val="D0BCFF"/>
                </a:solidFill>
                <a:latin typeface="Space Grotesk"/>
              </a:rPr>
              <a:t>›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19400" y="1428750"/>
            <a:ext cx="1905000" cy="1619250"/>
          </a:xfrm>
          <a:prstGeom prst="rect">
            <a:avLst/>
          </a:prstGeom>
          <a:solidFill>
            <a:srgbClr val="262A34"/>
          </a:solidFill>
          <a:ln w="19050">
            <a:solidFill>
              <a:srgbClr val="4944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33700" y="1562100"/>
            <a:ext cx="16764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1">
                <a:solidFill>
                  <a:srgbClr val="4CD7F6"/>
                </a:solidFill>
                <a:latin typeface="Space Grotesk"/>
              </a:rPr>
              <a:t>PYGAME ZERO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33700" y="1847850"/>
            <a:ext cx="16764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725" b="1">
                <a:solidFill>
                  <a:srgbClr val="FFFFFF"/>
                </a:solidFill>
                <a:latin typeface="Space Grotesk"/>
              </a:rPr>
              <a:t>draw · update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52750" y="2457450"/>
            <a:ext cx="163830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CBC3D7"/>
                </a:solidFill>
                <a:latin typeface="Inter"/>
              </a:rPr>
              <a:t>the only hooks in the main file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4400" y="2038350"/>
            <a:ext cx="3048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1">
                <a:solidFill>
                  <a:srgbClr val="D0BCFF"/>
                </a:solidFill>
                <a:latin typeface="Space Grotesk"/>
              </a:rPr>
              <a:t>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0" y="1428750"/>
            <a:ext cx="1905000" cy="1619250"/>
          </a:xfrm>
          <a:prstGeom prst="rect">
            <a:avLst/>
          </a:prstGeom>
          <a:solidFill>
            <a:srgbClr val="2B2542"/>
          </a:solidFill>
          <a:ln w="19050">
            <a:solidFill>
              <a:srgbClr val="D0B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43500" y="1562100"/>
            <a:ext cx="16764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1">
                <a:solidFill>
                  <a:srgbClr val="4CD7F6"/>
                </a:solidFill>
                <a:latin typeface="Space Grotesk"/>
              </a:rPr>
              <a:t>ONE VARIABLE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3500" y="1847850"/>
            <a:ext cx="16764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725" b="1">
                <a:solidFill>
                  <a:srgbClr val="FFFFFF"/>
                </a:solidFill>
                <a:latin typeface="Space Grotesk"/>
              </a:rPr>
              <a:t>game mode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62550" y="2457450"/>
            <a:ext cx="163830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CBC3D7"/>
                </a:solidFill>
                <a:latin typeface="Inter"/>
              </a:rPr>
              <a:t>says which screen is showing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34200" y="2038350"/>
            <a:ext cx="3048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1">
                <a:solidFill>
                  <a:srgbClr val="D0BCFF"/>
                </a:solidFill>
                <a:latin typeface="Space Grotesk"/>
              </a:rPr>
              <a:t>›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239000" y="1428750"/>
            <a:ext cx="1905000" cy="1619250"/>
          </a:xfrm>
          <a:prstGeom prst="rect">
            <a:avLst/>
          </a:prstGeom>
          <a:solidFill>
            <a:srgbClr val="262A34"/>
          </a:solidFill>
          <a:ln w="19050">
            <a:solidFill>
              <a:srgbClr val="4944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53300" y="1562100"/>
            <a:ext cx="16764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1">
                <a:solidFill>
                  <a:srgbClr val="4CD7F6"/>
                </a:solidFill>
                <a:latin typeface="Space Grotesk"/>
              </a:rPr>
              <a:t>MODULES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53300" y="1847850"/>
            <a:ext cx="16764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725" b="1">
                <a:solidFill>
                  <a:srgbClr val="FFFFFF"/>
                </a:solidFill>
                <a:latin typeface="Space Grotesk"/>
              </a:rPr>
              <a:t>screens · levels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72350" y="2457450"/>
            <a:ext cx="163830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CBC3D7"/>
                </a:solidFill>
                <a:latin typeface="Inter"/>
              </a:rPr>
              <a:t>each one owns its drawing and rules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0" y="2038350"/>
            <a:ext cx="3048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1">
                <a:solidFill>
                  <a:srgbClr val="D0BCFF"/>
                </a:solidFill>
                <a:latin typeface="Space Grotesk"/>
              </a:rPr>
              <a:t>›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448800" y="1428750"/>
            <a:ext cx="1905000" cy="1619250"/>
          </a:xfrm>
          <a:prstGeom prst="rect">
            <a:avLst/>
          </a:prstGeom>
          <a:solidFill>
            <a:srgbClr val="262A34"/>
          </a:solidFill>
          <a:ln w="19050">
            <a:solidFill>
              <a:srgbClr val="4944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563100" y="1562100"/>
            <a:ext cx="16764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1">
                <a:solidFill>
                  <a:srgbClr val="4CD7F6"/>
                </a:solidFill>
                <a:latin typeface="Space Grotesk"/>
              </a:rPr>
              <a:t>FILES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63100" y="1847850"/>
            <a:ext cx="16764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725" b="1">
                <a:solidFill>
                  <a:srgbClr val="FFFFFF"/>
                </a:solidFill>
                <a:latin typeface="Space Grotesk"/>
              </a:rPr>
              <a:t>images · music · data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82150" y="2457450"/>
            <a:ext cx="163830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CBC3D7"/>
                </a:solidFill>
                <a:latin typeface="Inter"/>
              </a:rPr>
              <a:t>facts and targets in plain lists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6750" y="3600450"/>
            <a:ext cx="5334000" cy="21907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09600" y="3543300"/>
            <a:ext cx="5334000" cy="2190750"/>
          </a:xfrm>
          <a:prstGeom prst="rect">
            <a:avLst/>
          </a:prstGeom>
          <a:solidFill>
            <a:srgbClr val="1C1F29"/>
          </a:solidFill>
          <a:ln w="19050">
            <a:solidFill>
              <a:srgbClr val="4944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4400" y="3733800"/>
            <a:ext cx="4762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>
                <a:solidFill>
                  <a:srgbClr val="4CD7F6"/>
                </a:solidFill>
                <a:latin typeface="Space Grotesk"/>
              </a:rPr>
              <a:t>CRAB QUEST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4057650"/>
            <a:ext cx="4762500" cy="1428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0">
                <a:solidFill>
                  <a:srgbClr val="CBC3D7"/>
                </a:solidFill>
                <a:latin typeface="Inter"/>
              </a:rPr>
              <a:t>START_SCREEN → LEVEL_SELECT → LEVEL1 … LEVEL6</a:t>
            </a:r>
          </a:p>
          <a:p>
            <a:pPr algn="l">
              <a:lnSpc>
                <a:spcPct val="135000"/>
              </a:lnSpc>
            </a:pPr>
            <a:r>
              <a:rPr sz="1350" b="0">
                <a:solidFill>
                  <a:srgbClr val="CBC3D7"/>
                </a:solidFill>
                <a:latin typeface="Inter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350" b="0">
                <a:solidFill>
                  <a:srgbClr val="CBC3D7"/>
                </a:solidFill>
                <a:latin typeface="Inter"/>
              </a:rPr>
              <a:t>One self-contained module per chapter, with its own sprites, platforms and reset().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05550" y="3600450"/>
            <a:ext cx="5334000" cy="21907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248400" y="3543300"/>
            <a:ext cx="5334000" cy="2190750"/>
          </a:xfrm>
          <a:prstGeom prst="rect">
            <a:avLst/>
          </a:prstGeom>
          <a:solidFill>
            <a:srgbClr val="1C1F29"/>
          </a:solidFill>
          <a:ln w="19050">
            <a:solidFill>
              <a:srgbClr val="4944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53200" y="3733800"/>
            <a:ext cx="4762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>
                <a:solidFill>
                  <a:srgbClr val="4CD7F6"/>
                </a:solidFill>
                <a:latin typeface="Space Grotesk"/>
              </a:rPr>
              <a:t>SPACE X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53200" y="4057650"/>
            <a:ext cx="4762500" cy="1428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0">
                <a:solidFill>
                  <a:srgbClr val="CBC3D7"/>
                </a:solidFill>
                <a:latin typeface="Inter"/>
              </a:rPr>
              <a:t>TITLE → PLAYING → FACT_CARD → GAME_OVER → WIN</a:t>
            </a:r>
          </a:p>
          <a:p>
            <a:pPr algn="l">
              <a:lnSpc>
                <a:spcPct val="135000"/>
              </a:lnSpc>
            </a:pPr>
            <a:r>
              <a:rPr sz="1350" b="0">
                <a:solidFill>
                  <a:srgbClr val="CBC3D7"/>
                </a:solidFill>
                <a:latin typeface="Inter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350" b="0">
                <a:solidFill>
                  <a:srgbClr val="CBC3D7"/>
                </a:solidFill>
                <a:latin typeface="Inter"/>
              </a:rPr>
              <a:t>Each level decides when it is cleared. The main file only switches modes.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3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81000"/>
            <a:ext cx="109728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FFFFFF"/>
                </a:solidFill>
                <a:latin typeface="Space Grotesk"/>
              </a:rPr>
              <a:t>Built with free tools, in one repo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649605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75" b="0">
                <a:solidFill>
                  <a:srgbClr val="958EA0"/>
                </a:solidFill>
                <a:latin typeface="Inter"/>
              </a:rPr>
              <a:t>Pixel Verse Studios · AFFIAT · Afro-Asian Forum for Innovation and Technology · Aswan Finals 2026 · Games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96050"/>
            <a:ext cx="609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75" b="0">
                <a:solidFill>
                  <a:srgbClr val="958EA0"/>
                </a:solidFill>
                <a:latin typeface="Inter"/>
              </a:rPr>
              <a:t>8</a:t>
            </a:r>
          </a:p>
        </p:txBody>
      </p:sp>
      <p:sp>
        <p:nvSpPr>
          <p:cNvPr id="5" name="Rectangle 4"/>
          <p:cNvSpPr/>
          <p:nvPr/>
        </p:nvSpPr>
        <p:spPr>
          <a:xfrm>
            <a:off x="666750" y="1390650"/>
            <a:ext cx="5334000" cy="4572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09600" y="1333500"/>
            <a:ext cx="5334000" cy="4572000"/>
          </a:xfrm>
          <a:prstGeom prst="rect">
            <a:avLst/>
          </a:prstGeom>
          <a:solidFill>
            <a:srgbClr val="1C1F29"/>
          </a:solidFill>
          <a:ln w="19050">
            <a:solidFill>
              <a:srgbClr val="4944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62100"/>
            <a:ext cx="4762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FFFFFF"/>
                </a:solidFill>
                <a:latin typeface="Space Grotesk"/>
              </a:rPr>
              <a:t>Python 3.11+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866900"/>
            <a:ext cx="4762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75" b="0">
                <a:solidFill>
                  <a:srgbClr val="CBC3D7"/>
                </a:solidFill>
                <a:latin typeface="Inter"/>
              </a:rPr>
              <a:t>all game logic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266950"/>
            <a:ext cx="4762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FFFFFF"/>
                </a:solidFill>
                <a:latin typeface="Space Grotesk"/>
              </a:rPr>
              <a:t>Pygame Zero 1.2.1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571750"/>
            <a:ext cx="4762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75" b="0">
                <a:solidFill>
                  <a:srgbClr val="CBC3D7"/>
                </a:solidFill>
                <a:latin typeface="Inter"/>
              </a:rPr>
              <a:t>sprites, keys, mouse, music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971800"/>
            <a:ext cx="4762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FFFFFF"/>
                </a:solidFill>
                <a:latin typeface="Space Grotesk"/>
              </a:rPr>
              <a:t>Pygame 2.6.1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276600"/>
            <a:ext cx="4762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75" b="0">
                <a:solidFill>
                  <a:srgbClr val="CBC3D7"/>
                </a:solidFill>
                <a:latin typeface="Inter"/>
              </a:rPr>
              <a:t>fullscreen, sounds, images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676650"/>
            <a:ext cx="4762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FFFFFF"/>
                </a:solidFill>
                <a:latin typeface="Space Grotesk"/>
              </a:rPr>
              <a:t>Jersey 10 font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981450"/>
            <a:ext cx="4762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75" b="0">
                <a:solidFill>
                  <a:srgbClr val="CBC3D7"/>
                </a:solidFill>
                <a:latin typeface="Inter"/>
              </a:rPr>
              <a:t>SIL Open Font License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381500"/>
            <a:ext cx="4762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FFFFFF"/>
                </a:solidFill>
                <a:latin typeface="Space Grotesk"/>
              </a:rPr>
              <a:t>HTML + CSS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686300"/>
            <a:ext cx="4762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75" b="0">
                <a:solidFill>
                  <a:srgbClr val="CBC3D7"/>
                </a:solidFill>
                <a:latin typeface="Inter"/>
              </a:rPr>
              <a:t>the studio website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086350"/>
            <a:ext cx="4762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FFFFFF"/>
                </a:solidFill>
                <a:latin typeface="Space Grotesk"/>
              </a:rPr>
              <a:t>PyInstaller · itch.io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391150"/>
            <a:ext cx="4762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75" b="0">
                <a:solidFill>
                  <a:srgbClr val="CBC3D7"/>
                </a:solidFill>
                <a:latin typeface="Inter"/>
              </a:rPr>
              <a:t>release path, in progress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5550" y="1390650"/>
            <a:ext cx="5334000" cy="4572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48400" y="1333500"/>
            <a:ext cx="5334000" cy="4572000"/>
          </a:xfrm>
          <a:prstGeom prst="rect">
            <a:avLst/>
          </a:prstGeom>
          <a:solidFill>
            <a:srgbClr val="0F131C"/>
          </a:solidFill>
          <a:ln w="19050">
            <a:solidFill>
              <a:srgbClr val="D0B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53200" y="1562100"/>
            <a:ext cx="4762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>
                <a:solidFill>
                  <a:srgbClr val="4CD7F6"/>
                </a:solidFill>
                <a:latin typeface="Space Grotesk"/>
              </a:rPr>
              <a:t>ONE GIT REPOSITORY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53200" y="1943100"/>
            <a:ext cx="4762500" cy="3619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25" b="0">
                <a:solidFill>
                  <a:srgbClr val="CFD3E4"/>
                </a:solidFill>
                <a:latin typeface="Courier New"/>
              </a:rPr>
              <a:t>PVS/</a:t>
            </a:r>
          </a:p>
          <a:p>
            <a:pPr algn="l">
              <a:lnSpc>
                <a:spcPct val="150000"/>
              </a:lnSpc>
            </a:pPr>
            <a:r>
              <a:rPr sz="1425" b="0">
                <a:solidFill>
                  <a:srgbClr val="CFD3E4"/>
                </a:solidFill>
                <a:latin typeface="Courier New"/>
              </a:rPr>
              <a:t>├── Crab-game/            Crab Quest</a:t>
            </a:r>
          </a:p>
          <a:p>
            <a:pPr algn="l">
              <a:lnSpc>
                <a:spcPct val="150000"/>
              </a:lnSpc>
            </a:pPr>
            <a:r>
              <a:rPr sz="1425" b="0">
                <a:solidFill>
                  <a:srgbClr val="CFD3E4"/>
                </a:solidFill>
                <a:latin typeface="Courier New"/>
              </a:rPr>
              <a:t>├── space-game/           Space X</a:t>
            </a:r>
          </a:p>
          <a:p>
            <a:pPr algn="l">
              <a:lnSpc>
                <a:spcPct val="150000"/>
              </a:lnSpc>
            </a:pPr>
            <a:r>
              <a:rPr sz="1425" b="0">
                <a:solidFill>
                  <a:srgbClr val="CFD3E4"/>
                </a:solidFill>
                <a:latin typeface="Courier New"/>
              </a:rPr>
              <a:t>│   ├── screens/  levels/</a:t>
            </a:r>
          </a:p>
          <a:p>
            <a:pPr algn="l">
              <a:lnSpc>
                <a:spcPct val="150000"/>
              </a:lnSpc>
            </a:pPr>
            <a:r>
              <a:rPr sz="1425" b="0">
                <a:solidFill>
                  <a:srgbClr val="CFD3E4"/>
                </a:solidFill>
                <a:latin typeface="Courier New"/>
              </a:rPr>
              <a:t>│   ├── parts/    data/</a:t>
            </a:r>
          </a:p>
          <a:p>
            <a:pPr algn="l">
              <a:lnSpc>
                <a:spcPct val="150000"/>
              </a:lnSpc>
            </a:pPr>
            <a:r>
              <a:rPr sz="1425" b="0">
                <a:solidFill>
                  <a:srgbClr val="CFD3E4"/>
                </a:solidFill>
                <a:latin typeface="Courier New"/>
              </a:rPr>
              <a:t>│   └── images/ music/ fonts/</a:t>
            </a:r>
          </a:p>
          <a:p>
            <a:pPr algn="l">
              <a:lnSpc>
                <a:spcPct val="150000"/>
              </a:lnSpc>
            </a:pPr>
            <a:r>
              <a:rPr sz="1425" b="0">
                <a:solidFill>
                  <a:srgbClr val="CFD3E4"/>
                </a:solidFill>
                <a:latin typeface="Courier New"/>
              </a:rPr>
              <a:t>├── pixel-verse-studios/  website</a:t>
            </a:r>
          </a:p>
          <a:p>
            <a:pPr algn="l">
              <a:lnSpc>
                <a:spcPct val="150000"/>
              </a:lnSpc>
            </a:pPr>
            <a:r>
              <a:rPr sz="1425" b="0">
                <a:solidFill>
                  <a:srgbClr val="CFD3E4"/>
                </a:solidFill>
                <a:latin typeface="Courier New"/>
              </a:rPr>
              <a:t>└── docs/                 this deck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3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81000"/>
            <a:ext cx="109728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FFFFFF"/>
                </a:solidFill>
                <a:latin typeface="Space Grotesk"/>
              </a:rPr>
              <a:t>Five people. Two games.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649605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75" b="0">
                <a:solidFill>
                  <a:srgbClr val="958EA0"/>
                </a:solidFill>
                <a:latin typeface="Inter"/>
              </a:rPr>
              <a:t>Pixel Verse Studios · AFFIAT · Afro-Asian Forum for Innovation and Technology · Aswan Finals 2026 · Games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96050"/>
            <a:ext cx="609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75" b="0">
                <a:solidFill>
                  <a:srgbClr val="958EA0"/>
                </a:solidFill>
                <a:latin typeface="Inter"/>
              </a:rPr>
              <a:t>9</a:t>
            </a:r>
          </a:p>
        </p:txBody>
      </p:sp>
      <p:sp>
        <p:nvSpPr>
          <p:cNvPr id="5" name="Rectangle 4"/>
          <p:cNvSpPr/>
          <p:nvPr/>
        </p:nvSpPr>
        <p:spPr>
          <a:xfrm>
            <a:off x="666750" y="1581150"/>
            <a:ext cx="2000250" cy="25717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09600" y="1524000"/>
            <a:ext cx="2000250" cy="2571750"/>
          </a:xfrm>
          <a:prstGeom prst="rect">
            <a:avLst/>
          </a:prstGeom>
          <a:solidFill>
            <a:srgbClr val="1C1F29"/>
          </a:solidFill>
          <a:ln w="19050">
            <a:solidFill>
              <a:srgbClr val="D0B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mariam_190x19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850" y="1619250"/>
            <a:ext cx="1809750" cy="18097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85800" y="3562350"/>
            <a:ext cx="18478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650" b="1">
                <a:solidFill>
                  <a:srgbClr val="FFFFFF"/>
                </a:solidFill>
                <a:latin typeface="Space Grotesk"/>
              </a:rPr>
              <a:t>Mariam Alaa</a:t>
            </a:r>
          </a:p>
        </p:txBody>
      </p:sp>
      <p:sp>
        <p:nvSpPr>
          <p:cNvPr id="9" name="Rectangle 8"/>
          <p:cNvSpPr/>
          <p:nvPr/>
        </p:nvSpPr>
        <p:spPr>
          <a:xfrm>
            <a:off x="2895600" y="1581150"/>
            <a:ext cx="2000250" cy="25717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838450" y="1524000"/>
            <a:ext cx="2000250" cy="2571750"/>
          </a:xfrm>
          <a:prstGeom prst="rect">
            <a:avLst/>
          </a:prstGeom>
          <a:solidFill>
            <a:srgbClr val="1C1F29"/>
          </a:solidFill>
          <a:ln w="19050">
            <a:solidFill>
              <a:srgbClr val="D0B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selim_190x19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33700" y="1619250"/>
            <a:ext cx="1809750" cy="180975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914650" y="3562350"/>
            <a:ext cx="18478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650" b="1">
                <a:solidFill>
                  <a:srgbClr val="FFFFFF"/>
                </a:solidFill>
                <a:latin typeface="Space Grotesk"/>
              </a:rPr>
              <a:t>Selim Loai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4450" y="1581150"/>
            <a:ext cx="2000250" cy="25717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67300" y="1524000"/>
            <a:ext cx="2000250" cy="2571750"/>
          </a:xfrm>
          <a:prstGeom prst="rect">
            <a:avLst/>
          </a:prstGeom>
          <a:solidFill>
            <a:srgbClr val="1C1F29"/>
          </a:solidFill>
          <a:ln w="19050">
            <a:solidFill>
              <a:srgbClr val="D0B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mohamed_190x19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62550" y="1619250"/>
            <a:ext cx="1809750" cy="180975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143500" y="3562350"/>
            <a:ext cx="18478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650" b="1">
                <a:solidFill>
                  <a:srgbClr val="FFFFFF"/>
                </a:solidFill>
                <a:latin typeface="Space Grotesk"/>
              </a:rPr>
              <a:t>Mohamed Loai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53300" y="1581150"/>
            <a:ext cx="2000250" cy="25717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296150" y="1524000"/>
            <a:ext cx="2000250" cy="2571750"/>
          </a:xfrm>
          <a:prstGeom prst="rect">
            <a:avLst/>
          </a:prstGeom>
          <a:solidFill>
            <a:srgbClr val="1C1F29"/>
          </a:solidFill>
          <a:ln w="19050">
            <a:solidFill>
              <a:srgbClr val="D0B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medhat_190x19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91400" y="1619250"/>
            <a:ext cx="1809750" cy="180975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372350" y="3562350"/>
            <a:ext cx="18478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650" b="1">
                <a:solidFill>
                  <a:srgbClr val="FFFFFF"/>
                </a:solidFill>
                <a:latin typeface="Space Grotesk"/>
              </a:rPr>
              <a:t>Medhat Ali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582150" y="1581150"/>
            <a:ext cx="2000250" cy="25717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525000" y="1524000"/>
            <a:ext cx="2000250" cy="2571750"/>
          </a:xfrm>
          <a:prstGeom prst="rect">
            <a:avLst/>
          </a:prstGeom>
          <a:solidFill>
            <a:srgbClr val="1C1F29"/>
          </a:solidFill>
          <a:ln w="19050">
            <a:solidFill>
              <a:srgbClr val="D0B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salah_190x19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20250" y="1619250"/>
            <a:ext cx="1809750" cy="180975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601200" y="3562350"/>
            <a:ext cx="18478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650" b="1">
                <a:solidFill>
                  <a:srgbClr val="FFFFFF"/>
                </a:solidFill>
                <a:latin typeface="Space Grotesk"/>
              </a:rPr>
              <a:t>Salah Mohamed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9600" y="4572000"/>
            <a:ext cx="109728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D0BCFF"/>
                </a:solidFill>
                <a:latin typeface="Space Grotesk"/>
              </a:rPr>
              <a:t>Pixel Verse Studios: two complete educational games, with real facts and one clean architecture.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762000"/>
            <a:ext cx="8572500" cy="952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6600" b="1">
                <a:solidFill>
                  <a:srgbClr val="FFFFFF"/>
                </a:solidFill>
                <a:latin typeface="Space Grotesk"/>
              </a:rP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1905000"/>
            <a:ext cx="66675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0">
                <a:solidFill>
                  <a:srgbClr val="D0BCFF"/>
                </a:solidFill>
                <a:latin typeface="Jersey 10"/>
              </a:rPr>
              <a:t>What's next</a:t>
            </a:r>
          </a:p>
        </p:txBody>
      </p:sp>
      <p:sp>
        <p:nvSpPr>
          <p:cNvPr id="4" name="Rectangle 3"/>
          <p:cNvSpPr/>
          <p:nvPr/>
        </p:nvSpPr>
        <p:spPr>
          <a:xfrm>
            <a:off x="609600" y="2657475"/>
            <a:ext cx="114300" cy="114300"/>
          </a:xfrm>
          <a:prstGeom prst="rect">
            <a:avLst/>
          </a:prstGeom>
          <a:solidFill>
            <a:srgbClr val="4EDE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2571750"/>
            <a:ext cx="64008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75" b="1">
                <a:solidFill>
                  <a:srgbClr val="FFFFFF"/>
                </a:solidFill>
                <a:latin typeface="Space Grotesk"/>
              </a:rPr>
              <a:t>Windows builds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2857500"/>
            <a:ext cx="64008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75" b="0">
                <a:solidFill>
                  <a:srgbClr val="CBC3D7"/>
                </a:solidFill>
                <a:latin typeface="Inter"/>
              </a:rPr>
              <a:t>Package both games with PyInstaller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3571875"/>
            <a:ext cx="114300" cy="114300"/>
          </a:xfrm>
          <a:prstGeom prst="rect">
            <a:avLst/>
          </a:prstGeom>
          <a:solidFill>
            <a:srgbClr val="4EDE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6300" y="3486150"/>
            <a:ext cx="64008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75" b="1">
                <a:solidFill>
                  <a:srgbClr val="FFFFFF"/>
                </a:solidFill>
                <a:latin typeface="Space Grotesk"/>
              </a:rPr>
              <a:t>An itch.io page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6300" y="3771900"/>
            <a:ext cx="64008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75" b="0">
                <a:solidFill>
                  <a:srgbClr val="CBC3D7"/>
                </a:solidFill>
                <a:latin typeface="Inter"/>
              </a:rPr>
              <a:t>Both games, screenshots, controls and downloads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4486275"/>
            <a:ext cx="114300" cy="114300"/>
          </a:xfrm>
          <a:prstGeom prst="rect">
            <a:avLst/>
          </a:prstGeom>
          <a:solidFill>
            <a:srgbClr val="4EDE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6300" y="4400550"/>
            <a:ext cx="64008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75" b="1">
                <a:solidFill>
                  <a:srgbClr val="FFFFFF"/>
                </a:solidFill>
                <a:latin typeface="Space Grotesk"/>
              </a:rPr>
              <a:t>Test on a clean PC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6300" y="4686300"/>
            <a:ext cx="64008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75" b="0">
                <a:solidFill>
                  <a:srgbClr val="CBC3D7"/>
                </a:solidFill>
                <a:latin typeface="Inter"/>
              </a:rPr>
              <a:t>Every chapter and every level, music on and off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382000" y="1238250"/>
            <a:ext cx="2857500" cy="3238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qr-site_276x27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96300" y="1352550"/>
            <a:ext cx="2628900" cy="26289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382000" y="4038600"/>
            <a:ext cx="2857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75" b="0">
                <a:solidFill>
                  <a:srgbClr val="14213D"/>
                </a:solidFill>
                <a:latin typeface="Inter"/>
              </a:rPr>
              <a:t>Scan to visit the studio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82000" y="4686300"/>
            <a:ext cx="28575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>
                <a:solidFill>
                  <a:srgbClr val="4CD7F6"/>
                </a:solidFill>
                <a:latin typeface="Space Grotesk"/>
              </a:rPr>
              <a:t>PRESENTED AT</a:t>
            </a:r>
          </a:p>
        </p:txBody>
      </p:sp>
      <p:pic>
        <p:nvPicPr>
          <p:cNvPr id="17" name="Picture 16" descr="affiat-emblem_54x5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0" y="4933950"/>
            <a:ext cx="514350" cy="495300"/>
          </a:xfrm>
          <a:prstGeom prst="rect">
            <a:avLst/>
          </a:prstGeom>
        </p:spPr>
      </p:pic>
      <p:pic>
        <p:nvPicPr>
          <p:cNvPr id="18" name="Picture 17" descr="technofuture-white_129x2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29700" y="5067300"/>
            <a:ext cx="1228725" cy="23812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09600" y="5715000"/>
            <a:ext cx="9525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CBC3D7"/>
                </a:solidFill>
                <a:latin typeface="Inter"/>
              </a:rPr>
              <a:t>Pixel Verse Studios · AFFIAT · Afro-Asian Forum for Innovation and Technology · Aswan Finals 2026 · Games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629400"/>
            <a:ext cx="228600" cy="228600"/>
          </a:xfrm>
          <a:prstGeom prst="rect">
            <a:avLst/>
          </a:prstGeom>
          <a:solidFill>
            <a:srgbClr val="D0B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28600" y="6629400"/>
            <a:ext cx="228600" cy="228600"/>
          </a:xfrm>
          <a:prstGeom prst="rect">
            <a:avLst/>
          </a:prstGeom>
          <a:solidFill>
            <a:srgbClr val="4CD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6629400"/>
            <a:ext cx="228600" cy="228600"/>
          </a:xfrm>
          <a:prstGeom prst="rect">
            <a:avLst/>
          </a:prstGeom>
          <a:solidFill>
            <a:srgbClr val="4EDE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85800" y="6629400"/>
            <a:ext cx="228600" cy="228600"/>
          </a:xfrm>
          <a:prstGeom prst="rect">
            <a:avLst/>
          </a:prstGeom>
          <a:solidFill>
            <a:srgbClr val="D0B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" y="6629400"/>
            <a:ext cx="228600" cy="228600"/>
          </a:xfrm>
          <a:prstGeom prst="rect">
            <a:avLst/>
          </a:prstGeom>
          <a:solidFill>
            <a:srgbClr val="4CD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143000" y="6629400"/>
            <a:ext cx="228600" cy="228600"/>
          </a:xfrm>
          <a:prstGeom prst="rect">
            <a:avLst/>
          </a:prstGeom>
          <a:solidFill>
            <a:srgbClr val="4EDE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371600" y="6629400"/>
            <a:ext cx="228600" cy="228600"/>
          </a:xfrm>
          <a:prstGeom prst="rect">
            <a:avLst/>
          </a:prstGeom>
          <a:solidFill>
            <a:srgbClr val="D0B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600200" y="6629400"/>
            <a:ext cx="228600" cy="228600"/>
          </a:xfrm>
          <a:prstGeom prst="rect">
            <a:avLst/>
          </a:prstGeom>
          <a:solidFill>
            <a:srgbClr val="4CD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828800" y="6629400"/>
            <a:ext cx="228600" cy="228600"/>
          </a:xfrm>
          <a:prstGeom prst="rect">
            <a:avLst/>
          </a:prstGeom>
          <a:solidFill>
            <a:srgbClr val="4EDE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057400" y="6629400"/>
            <a:ext cx="228600" cy="228600"/>
          </a:xfrm>
          <a:prstGeom prst="rect">
            <a:avLst/>
          </a:prstGeom>
          <a:solidFill>
            <a:srgbClr val="D0B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286000" y="6629400"/>
            <a:ext cx="228600" cy="228600"/>
          </a:xfrm>
          <a:prstGeom prst="rect">
            <a:avLst/>
          </a:prstGeom>
          <a:solidFill>
            <a:srgbClr val="4CD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514600" y="6629400"/>
            <a:ext cx="228600" cy="228600"/>
          </a:xfrm>
          <a:prstGeom prst="rect">
            <a:avLst/>
          </a:prstGeom>
          <a:solidFill>
            <a:srgbClr val="4EDE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2743200" y="6629400"/>
            <a:ext cx="228600" cy="228600"/>
          </a:xfrm>
          <a:prstGeom prst="rect">
            <a:avLst/>
          </a:prstGeom>
          <a:solidFill>
            <a:srgbClr val="D0B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971800" y="6629400"/>
            <a:ext cx="228600" cy="228600"/>
          </a:xfrm>
          <a:prstGeom prst="rect">
            <a:avLst/>
          </a:prstGeom>
          <a:solidFill>
            <a:srgbClr val="4CD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200400" y="6629400"/>
            <a:ext cx="228600" cy="228600"/>
          </a:xfrm>
          <a:prstGeom prst="rect">
            <a:avLst/>
          </a:prstGeom>
          <a:solidFill>
            <a:srgbClr val="4EDE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429000" y="6629400"/>
            <a:ext cx="228600" cy="228600"/>
          </a:xfrm>
          <a:prstGeom prst="rect">
            <a:avLst/>
          </a:prstGeom>
          <a:solidFill>
            <a:srgbClr val="D0B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657600" y="6629400"/>
            <a:ext cx="228600" cy="228600"/>
          </a:xfrm>
          <a:prstGeom prst="rect">
            <a:avLst/>
          </a:prstGeom>
          <a:solidFill>
            <a:srgbClr val="4CD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886200" y="6629400"/>
            <a:ext cx="228600" cy="228600"/>
          </a:xfrm>
          <a:prstGeom prst="rect">
            <a:avLst/>
          </a:prstGeom>
          <a:solidFill>
            <a:srgbClr val="4EDE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114800" y="6629400"/>
            <a:ext cx="228600" cy="228600"/>
          </a:xfrm>
          <a:prstGeom prst="rect">
            <a:avLst/>
          </a:prstGeom>
          <a:solidFill>
            <a:srgbClr val="D0B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343400" y="6629400"/>
            <a:ext cx="228600" cy="228600"/>
          </a:xfrm>
          <a:prstGeom prst="rect">
            <a:avLst/>
          </a:prstGeom>
          <a:solidFill>
            <a:srgbClr val="4CD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572000" y="6629400"/>
            <a:ext cx="228600" cy="228600"/>
          </a:xfrm>
          <a:prstGeom prst="rect">
            <a:avLst/>
          </a:prstGeom>
          <a:solidFill>
            <a:srgbClr val="4EDE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800600" y="6629400"/>
            <a:ext cx="228600" cy="228600"/>
          </a:xfrm>
          <a:prstGeom prst="rect">
            <a:avLst/>
          </a:prstGeom>
          <a:solidFill>
            <a:srgbClr val="D0B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029200" y="6629400"/>
            <a:ext cx="228600" cy="228600"/>
          </a:xfrm>
          <a:prstGeom prst="rect">
            <a:avLst/>
          </a:prstGeom>
          <a:solidFill>
            <a:srgbClr val="4CD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257800" y="6629400"/>
            <a:ext cx="228600" cy="228600"/>
          </a:xfrm>
          <a:prstGeom prst="rect">
            <a:avLst/>
          </a:prstGeom>
          <a:solidFill>
            <a:srgbClr val="4EDE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486400" y="6629400"/>
            <a:ext cx="228600" cy="228600"/>
          </a:xfrm>
          <a:prstGeom prst="rect">
            <a:avLst/>
          </a:prstGeom>
          <a:solidFill>
            <a:srgbClr val="D0B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715000" y="6629400"/>
            <a:ext cx="228600" cy="228600"/>
          </a:xfrm>
          <a:prstGeom prst="rect">
            <a:avLst/>
          </a:prstGeom>
          <a:solidFill>
            <a:srgbClr val="4CD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5943600" y="6629400"/>
            <a:ext cx="228600" cy="228600"/>
          </a:xfrm>
          <a:prstGeom prst="rect">
            <a:avLst/>
          </a:prstGeom>
          <a:solidFill>
            <a:srgbClr val="4EDE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172200" y="6629400"/>
            <a:ext cx="228600" cy="228600"/>
          </a:xfrm>
          <a:prstGeom prst="rect">
            <a:avLst/>
          </a:prstGeom>
          <a:solidFill>
            <a:srgbClr val="D0B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400800" y="6629400"/>
            <a:ext cx="228600" cy="228600"/>
          </a:xfrm>
          <a:prstGeom prst="rect">
            <a:avLst/>
          </a:prstGeom>
          <a:solidFill>
            <a:srgbClr val="4CD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629400" y="6629400"/>
            <a:ext cx="228600" cy="228600"/>
          </a:xfrm>
          <a:prstGeom prst="rect">
            <a:avLst/>
          </a:prstGeom>
          <a:solidFill>
            <a:srgbClr val="4EDE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858000" y="6629400"/>
            <a:ext cx="228600" cy="228600"/>
          </a:xfrm>
          <a:prstGeom prst="rect">
            <a:avLst/>
          </a:prstGeom>
          <a:solidFill>
            <a:srgbClr val="D0B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7086600" y="6629400"/>
            <a:ext cx="228600" cy="228600"/>
          </a:xfrm>
          <a:prstGeom prst="rect">
            <a:avLst/>
          </a:prstGeom>
          <a:solidFill>
            <a:srgbClr val="4CD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315200" y="6629400"/>
            <a:ext cx="228600" cy="228600"/>
          </a:xfrm>
          <a:prstGeom prst="rect">
            <a:avLst/>
          </a:prstGeom>
          <a:solidFill>
            <a:srgbClr val="4EDE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543800" y="6629400"/>
            <a:ext cx="228600" cy="228600"/>
          </a:xfrm>
          <a:prstGeom prst="rect">
            <a:avLst/>
          </a:prstGeom>
          <a:solidFill>
            <a:srgbClr val="D0B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772400" y="6629400"/>
            <a:ext cx="228600" cy="228600"/>
          </a:xfrm>
          <a:prstGeom prst="rect">
            <a:avLst/>
          </a:prstGeom>
          <a:solidFill>
            <a:srgbClr val="4CD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8001000" y="6629400"/>
            <a:ext cx="228600" cy="228600"/>
          </a:xfrm>
          <a:prstGeom prst="rect">
            <a:avLst/>
          </a:prstGeom>
          <a:solidFill>
            <a:srgbClr val="4EDE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8229600" y="6629400"/>
            <a:ext cx="228600" cy="228600"/>
          </a:xfrm>
          <a:prstGeom prst="rect">
            <a:avLst/>
          </a:prstGeom>
          <a:solidFill>
            <a:srgbClr val="D0B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8458200" y="6629400"/>
            <a:ext cx="228600" cy="228600"/>
          </a:xfrm>
          <a:prstGeom prst="rect">
            <a:avLst/>
          </a:prstGeom>
          <a:solidFill>
            <a:srgbClr val="4CD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8686800" y="6629400"/>
            <a:ext cx="228600" cy="228600"/>
          </a:xfrm>
          <a:prstGeom prst="rect">
            <a:avLst/>
          </a:prstGeom>
          <a:solidFill>
            <a:srgbClr val="4EDE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8915400" y="6629400"/>
            <a:ext cx="228600" cy="228600"/>
          </a:xfrm>
          <a:prstGeom prst="rect">
            <a:avLst/>
          </a:prstGeom>
          <a:solidFill>
            <a:srgbClr val="D0B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9144000" y="6629400"/>
            <a:ext cx="228600" cy="228600"/>
          </a:xfrm>
          <a:prstGeom prst="rect">
            <a:avLst/>
          </a:prstGeom>
          <a:solidFill>
            <a:srgbClr val="4CD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9372600" y="6629400"/>
            <a:ext cx="228600" cy="228600"/>
          </a:xfrm>
          <a:prstGeom prst="rect">
            <a:avLst/>
          </a:prstGeom>
          <a:solidFill>
            <a:srgbClr val="4EDE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9601200" y="6629400"/>
            <a:ext cx="228600" cy="228600"/>
          </a:xfrm>
          <a:prstGeom prst="rect">
            <a:avLst/>
          </a:prstGeom>
          <a:solidFill>
            <a:srgbClr val="D0B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9829800" y="6629400"/>
            <a:ext cx="228600" cy="228600"/>
          </a:xfrm>
          <a:prstGeom prst="rect">
            <a:avLst/>
          </a:prstGeom>
          <a:solidFill>
            <a:srgbClr val="4CD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10058400" y="6629400"/>
            <a:ext cx="228600" cy="228600"/>
          </a:xfrm>
          <a:prstGeom prst="rect">
            <a:avLst/>
          </a:prstGeom>
          <a:solidFill>
            <a:srgbClr val="4EDE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10287000" y="6629400"/>
            <a:ext cx="228600" cy="228600"/>
          </a:xfrm>
          <a:prstGeom prst="rect">
            <a:avLst/>
          </a:prstGeom>
          <a:solidFill>
            <a:srgbClr val="D0B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10515600" y="6629400"/>
            <a:ext cx="228600" cy="228600"/>
          </a:xfrm>
          <a:prstGeom prst="rect">
            <a:avLst/>
          </a:prstGeom>
          <a:solidFill>
            <a:srgbClr val="4CD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10744200" y="6629400"/>
            <a:ext cx="228600" cy="228600"/>
          </a:xfrm>
          <a:prstGeom prst="rect">
            <a:avLst/>
          </a:prstGeom>
          <a:solidFill>
            <a:srgbClr val="4EDE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0972800" y="6629400"/>
            <a:ext cx="228600" cy="228600"/>
          </a:xfrm>
          <a:prstGeom prst="rect">
            <a:avLst/>
          </a:prstGeom>
          <a:solidFill>
            <a:srgbClr val="D0B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11201400" y="6629400"/>
            <a:ext cx="228600" cy="228600"/>
          </a:xfrm>
          <a:prstGeom prst="rect">
            <a:avLst/>
          </a:prstGeom>
          <a:solidFill>
            <a:srgbClr val="4CD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11430000" y="6629400"/>
            <a:ext cx="228600" cy="228600"/>
          </a:xfrm>
          <a:prstGeom prst="rect">
            <a:avLst/>
          </a:prstGeom>
          <a:solidFill>
            <a:srgbClr val="4EDE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11658600" y="6629400"/>
            <a:ext cx="228600" cy="228600"/>
          </a:xfrm>
          <a:prstGeom prst="rect">
            <a:avLst/>
          </a:prstGeom>
          <a:solidFill>
            <a:srgbClr val="D0B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11887200" y="6629400"/>
            <a:ext cx="228600" cy="228600"/>
          </a:xfrm>
          <a:prstGeom prst="rect">
            <a:avLst/>
          </a:prstGeom>
          <a:solidFill>
            <a:srgbClr val="4CD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12115800" y="6629400"/>
            <a:ext cx="228600" cy="228600"/>
          </a:xfrm>
          <a:prstGeom prst="rect">
            <a:avLst/>
          </a:prstGeom>
          <a:solidFill>
            <a:srgbClr val="4EDE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
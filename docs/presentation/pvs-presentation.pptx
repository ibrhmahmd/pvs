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914400"/>
            <a:ext cx="952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CD7F6"/>
                </a:solidFill>
                <a:latin typeface="Space Grotesk"/>
              </a:rPr>
              <a:t>AFFIAT · ASWAN FINALS 2026 ·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86750" y="190500"/>
            <a:ext cx="2952750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s_293x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50" y="247650"/>
            <a:ext cx="2790825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333500"/>
            <a:ext cx="72390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900" b="1">
                <a:solidFill>
                  <a:srgbClr val="FFFFFF"/>
                </a:solidFill>
                <a:latin typeface="Space Grotesk"/>
              </a:rPr>
              <a:t>Pixel Verse Studios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43300"/>
            <a:ext cx="742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0">
                <a:solidFill>
                  <a:srgbClr val="D0BCFF"/>
                </a:solidFill>
                <a:latin typeface="Jersey 10"/>
              </a:rPr>
              <a:t>Real science, hidden in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05300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CBC3D7"/>
                </a:solidFill>
                <a:latin typeface="Inter"/>
              </a:rPr>
              <a:t>Two 16-bit games for ages 5 to 99. Dodge ocean trash. Fly to Jupiter's icy moon. Every fact in them is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77250" y="1333500"/>
            <a:ext cx="2857500" cy="285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2000" y="1238250"/>
            <a:ext cx="2857500" cy="2857500"/>
          </a:xfrm>
          <a:prstGeom prst="rect">
            <a:avLst/>
          </a:prstGeom>
          <a:solidFill>
            <a:srgbClr val="1C1F29"/>
          </a:solidFill>
          <a:ln w="3810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276x2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1352550"/>
            <a:ext cx="2628900" cy="2628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0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4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0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57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15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29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86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3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58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15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29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87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15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744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72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201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30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658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887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115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Facts stick when you play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1485900"/>
            <a:ext cx="5181600" cy="30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28750"/>
            <a:ext cx="5181600" cy="304800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5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8350"/>
            <a:ext cx="4572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FFFFFF"/>
                </a:solidFill>
                <a:latin typeface="Space Grotesk"/>
              </a:rPr>
              <a:t>A fact in a lesson stays a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2895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>
                <a:solidFill>
                  <a:srgbClr val="CBC3D7"/>
                </a:solidFill>
                <a:latin typeface="Inter"/>
              </a:rPr>
              <a:t>"Europa hides an ocean." "Plastic hurts sea turtles." A child hears it, and the next day it is gone. Facts feel far away from 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7950" y="1485900"/>
            <a:ext cx="5181600" cy="30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28750"/>
            <a:ext cx="5181600" cy="304800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0" y="1695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OUR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2038350"/>
            <a:ext cx="4572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FFFFFF"/>
                </a:solidFill>
                <a:latin typeface="Space Grotesk"/>
              </a:rPr>
              <a:t>Make the fact a game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02895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>
                <a:solidFill>
                  <a:srgbClr val="CBC3D7"/>
                </a:solidFill>
                <a:latin typeface="Inter"/>
              </a:rPr>
              <a:t>In Crab Quest you dodge the trash. In Space X you fly through Europa's ice. Each fact shows up where it makes sense in the story, and nothing in it is invented.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530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D0BCFF"/>
                </a:solidFill>
                <a:latin typeface="Space Grotesk"/>
              </a:rPr>
              <a:t>Ages 5 to 99 · short sessions · runs offline on a school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Two games, one studio.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1390650"/>
            <a:ext cx="5181600" cy="476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5181600" cy="476250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ab-quest-logo_96x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38350" y="16764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50" b="1">
                <a:solidFill>
                  <a:srgbClr val="FFFFFF"/>
                </a:solidFill>
                <a:latin typeface="Space Grotesk"/>
              </a:rPr>
              <a:t>Crab 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8350" y="21336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D0BCFF"/>
                </a:solidFill>
                <a:latin typeface="Inter"/>
              </a:rPr>
              <a:t>Six chapters to get 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432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100" y="28575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6 chapters, 6 ways to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1432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Platforming, dodging, collecting, surviving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719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1100" y="38862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Real ocean 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41719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Birds, trash and a predator fish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006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100" y="49149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Ends in a coral sanctuary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52006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Help a shrimp, then find your family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7950" y="1390650"/>
            <a:ext cx="5181600" cy="476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33500"/>
            <a:ext cx="5181600" cy="476250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pace-x-logo_96x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60020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29550" y="16764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50" b="1">
                <a:solidFill>
                  <a:srgbClr val="FFFFFF"/>
                </a:solidFill>
                <a:latin typeface="Space Grotesk"/>
              </a:rPr>
              <a:t>Space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9550" y="21336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D0BCFF"/>
                </a:solidFill>
                <a:latin typeface="Inter"/>
              </a:rPr>
              <a:t>Journey to Jupiter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5600" y="29432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2300" y="28575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4 levels, one 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2300" y="31432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Launch pad, Earth orbit, asteroid belt, Europa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05600" y="39719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2300" y="38862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A fact card after every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41719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A story line and one science fact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500062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2300" y="4914900"/>
            <a:ext cx="4305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A planet fact on every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300" y="5200650"/>
            <a:ext cx="4305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The Sun and all eight planets, with pictures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Crab Quest: six chapters to get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4</a:t>
            </a:r>
          </a:p>
        </p:txBody>
      </p:sp>
      <p:pic>
        <p:nvPicPr>
          <p:cNvPr id="5" name="Picture 4" descr="chapter-2_370x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3524250" cy="2286000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9600" y="3600450"/>
            <a:ext cx="3524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Chapter 2 · Beach Run</a:t>
            </a:r>
          </a:p>
        </p:txBody>
      </p:sp>
      <p:pic>
        <p:nvPicPr>
          <p:cNvPr id="7" name="Picture 6" descr="chapter-4_370x2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238250"/>
            <a:ext cx="3524250" cy="2286000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333875" y="3600450"/>
            <a:ext cx="3524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Chapter 4 · Shrimp Help</a:t>
            </a:r>
          </a:p>
        </p:txBody>
      </p:sp>
      <p:pic>
        <p:nvPicPr>
          <p:cNvPr id="9" name="Picture 8" descr="chapter-5_370x2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0" y="1238250"/>
            <a:ext cx="3524250" cy="2286000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58150" y="3600450"/>
            <a:ext cx="3524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Chapter 5 · Predator Chase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950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Kitchen Escape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Jump the counter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47925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1275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1275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Beach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1275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Dodge birds, 30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6250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9600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9600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Sea Floor Dodging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9600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Dodge trash, 10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4575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7925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7925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Shrimp Help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7925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Collect 17 algae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2900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6250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0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Predator Chase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0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Survive 45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1225" y="4343400"/>
            <a:ext cx="1724025" cy="14287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4575" y="44196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EDEA3"/>
                </a:solidFill>
                <a:latin typeface="Jersey 10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4575" y="4838700"/>
            <a:ext cx="1476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1">
                <a:solidFill>
                  <a:srgbClr val="FFFFFF"/>
                </a:solidFill>
                <a:latin typeface="Space Grotesk"/>
              </a:rPr>
              <a:t>Home Sweet Home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4575" y="5334000"/>
            <a:ext cx="1476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Reach your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Space X: the Journey to Jupiter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5</a:t>
            </a:r>
          </a:p>
        </p:txBody>
      </p:sp>
      <p:pic>
        <p:nvPicPr>
          <p:cNvPr id="5" name="Picture 4" descr="launch_pad_270x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2571750" cy="19335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9600" y="3248025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BC3D7"/>
                </a:solidFill>
                <a:latin typeface="Inter"/>
              </a:rPr>
              <a:t>1 · Launch pad: collect 4 items</a:t>
            </a:r>
          </a:p>
        </p:txBody>
      </p:sp>
      <p:pic>
        <p:nvPicPr>
          <p:cNvPr id="7" name="Picture 6" descr="earth_orbit_270x2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1238250"/>
            <a:ext cx="2571750" cy="19335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409950" y="3248025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BC3D7"/>
                </a:solidFill>
                <a:latin typeface="Inter"/>
              </a:rPr>
              <a:t>2 · Earth orbit: dodge 10 junk</a:t>
            </a:r>
          </a:p>
        </p:txBody>
      </p:sp>
      <p:pic>
        <p:nvPicPr>
          <p:cNvPr id="9" name="Picture 8" descr="belt_270x2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238250"/>
            <a:ext cx="2571750" cy="19335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0300" y="3248025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BC3D7"/>
                </a:solidFill>
                <a:latin typeface="Inter"/>
              </a:rPr>
              <a:t>3 · Asteroid belt: shoot 30</a:t>
            </a:r>
          </a:p>
        </p:txBody>
      </p:sp>
      <p:pic>
        <p:nvPicPr>
          <p:cNvPr id="11" name="Picture 10" descr="europa_270x2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1238250"/>
            <a:ext cx="2571750" cy="19335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10650" y="3248025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5" b="0">
                <a:solidFill>
                  <a:srgbClr val="CBC3D7"/>
                </a:solidFill>
                <a:latin typeface="Inter"/>
              </a:rPr>
              <a:t>4 · Europa: break 12 ice chunks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" y="3943350"/>
            <a:ext cx="10972800" cy="190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886200"/>
            <a:ext cx="10972800" cy="190500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363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THE HERO'S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7700"/>
            <a:ext cx="10363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>
                <a:solidFill>
                  <a:srgbClr val="FFFFFF"/>
                </a:solidFill>
                <a:latin typeface="Space Grotesk"/>
              </a:rPr>
              <a:t>Fly to Europa, Jupiter's icy moon, and find out if its hidden ocean could hold life.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00650"/>
            <a:ext cx="10363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BC3D7"/>
                </a:solidFill>
                <a:latin typeface="Inter"/>
              </a:rPr>
              <a:t>Lose all 3 hearts and the level restarts. Win level 4 and the Hero reaches Jupiter.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Learning happens at the moment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6</a:t>
            </a:r>
          </a:p>
        </p:txBody>
      </p:sp>
      <p:pic>
        <p:nvPicPr>
          <p:cNvPr id="5" name="Picture 4" descr="fact_card_372x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3543300" cy="26574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9600" y="3971925"/>
            <a:ext cx="3543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A fact card after every level</a:t>
            </a:r>
          </a:p>
        </p:txBody>
      </p:sp>
      <p:pic>
        <p:nvPicPr>
          <p:cNvPr id="7" name="Picture 6" descr="game_over_372x2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238250"/>
            <a:ext cx="3543300" cy="26574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438650" y="3971925"/>
            <a:ext cx="3543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A planet fact on every game over</a:t>
            </a:r>
          </a:p>
        </p:txBody>
      </p:sp>
      <p:pic>
        <p:nvPicPr>
          <p:cNvPr id="9" name="Picture 8" descr="win_372x2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1238250"/>
            <a:ext cx="3543300" cy="2657475"/>
          </a:xfrm>
          <a:prstGeom prst="rect">
            <a:avLst/>
          </a:prstGeom>
          <a:ln w="19050">
            <a:solidFill>
              <a:srgbClr val="49445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67700" y="3971925"/>
            <a:ext cx="3543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BC3D7"/>
                </a:solidFill>
                <a:latin typeface="Inter"/>
              </a:rPr>
              <a:t>The win screen on Jupiter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0055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The Sun and all eight planets, each with a picture and a short fact.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838700"/>
            <a:ext cx="10972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BC3D7"/>
                </a:solidFill>
                <a:latin typeface="Inter"/>
              </a:rPr>
              <a:t>The facts live in plain Python lists, so adding a planet or a story line means adding one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One simple idea: a mode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428750"/>
            <a:ext cx="1905000" cy="16192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62100"/>
            <a:ext cx="167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CD7F6"/>
                </a:solidFill>
                <a:latin typeface="Space Grotesk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847850"/>
            <a:ext cx="1676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25" b="1">
                <a:solidFill>
                  <a:srgbClr val="FFFFFF"/>
                </a:solidFill>
                <a:latin typeface="Space Grotesk"/>
              </a:rPr>
              <a:t>Keyboard · mouse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457450"/>
            <a:ext cx="1638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arrows, Space, P, R, F and on-screen 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3835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D0BCFF"/>
                </a:solidFill>
                <a:latin typeface="Space Grotesk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1428750"/>
            <a:ext cx="1905000" cy="16192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3700" y="1562100"/>
            <a:ext cx="167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CD7F6"/>
                </a:solidFill>
                <a:latin typeface="Space Grotesk"/>
              </a:rPr>
              <a:t>PYGAME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700" y="1847850"/>
            <a:ext cx="1676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25" b="1">
                <a:solidFill>
                  <a:srgbClr val="FFFFFF"/>
                </a:solidFill>
                <a:latin typeface="Space Grotesk"/>
              </a:rPr>
              <a:t>draw ·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0" y="2457450"/>
            <a:ext cx="1638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the only hooks in the main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203835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D0BCFF"/>
                </a:solidFill>
                <a:latin typeface="Space Grotesk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428750"/>
            <a:ext cx="1905000" cy="1619250"/>
          </a:xfrm>
          <a:prstGeom prst="rect">
            <a:avLst/>
          </a:prstGeom>
          <a:solidFill>
            <a:srgbClr val="2B2542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3500" y="1562100"/>
            <a:ext cx="167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CD7F6"/>
                </a:solidFill>
                <a:latin typeface="Space Grotesk"/>
              </a:rPr>
              <a:t>ONE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0" y="1847850"/>
            <a:ext cx="1676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25" b="1">
                <a:solidFill>
                  <a:srgbClr val="FFFFFF"/>
                </a:solidFill>
                <a:latin typeface="Space Grotesk"/>
              </a:rPr>
              <a:t>game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2550" y="2457450"/>
            <a:ext cx="1638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says which screen is showing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203835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D0BCFF"/>
                </a:solidFill>
                <a:latin typeface="Space Grotesk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1428750"/>
            <a:ext cx="1905000" cy="16192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3300" y="1562100"/>
            <a:ext cx="167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CD7F6"/>
                </a:solidFill>
                <a:latin typeface="Space Grotesk"/>
              </a:rPr>
              <a:t>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3300" y="1847850"/>
            <a:ext cx="1676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25" b="1">
                <a:solidFill>
                  <a:srgbClr val="FFFFFF"/>
                </a:solidFill>
                <a:latin typeface="Space Grotesk"/>
              </a:rPr>
              <a:t>screens ·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2350" y="2457450"/>
            <a:ext cx="1638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each one owns its drawing and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3835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D0BCFF"/>
                </a:solidFill>
                <a:latin typeface="Space Grotesk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8800" y="1428750"/>
            <a:ext cx="1905000" cy="1619250"/>
          </a:xfrm>
          <a:prstGeom prst="rect">
            <a:avLst/>
          </a:prstGeom>
          <a:solidFill>
            <a:srgbClr val="262A34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1562100"/>
            <a:ext cx="167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4CD7F6"/>
                </a:solidFill>
                <a:latin typeface="Space Grotesk"/>
              </a:rPr>
              <a:t>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3100" y="1847850"/>
            <a:ext cx="1676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25" b="1">
                <a:solidFill>
                  <a:srgbClr val="FFFFFF"/>
                </a:solidFill>
                <a:latin typeface="Space Grotesk"/>
              </a:rPr>
              <a:t>images · music ·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150" y="2457450"/>
            <a:ext cx="1638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CBC3D7"/>
                </a:solidFill>
                <a:latin typeface="Inter"/>
              </a:rPr>
              <a:t>facts and targets in plain lists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50" y="3600450"/>
            <a:ext cx="5334000" cy="2190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3543300"/>
            <a:ext cx="5334000" cy="219075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33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CRAB 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05765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>START_SCREEN → LEVEL_SELECT → LEVEL1 … LEVEL6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>One self-contained module per chapter, with its own sprites, platforms and reset().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5550" y="3600450"/>
            <a:ext cx="5334000" cy="2190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8400" y="3543300"/>
            <a:ext cx="5334000" cy="219075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3200" y="3733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SPACE 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405765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>TITLE → PLAYING → FACT_CARD → GAME_OVER → WIN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C3D7"/>
                </a:solidFill>
                <a:latin typeface="Inter"/>
              </a:rPr>
              <a:t>Each level decides when it is cleared. The main file only switches 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Built with free tools, in one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1390650"/>
            <a:ext cx="533400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5334000" cy="4572000"/>
          </a:xfrm>
          <a:prstGeom prst="rect">
            <a:avLst/>
          </a:prstGeom>
          <a:solidFill>
            <a:srgbClr val="1C1F29"/>
          </a:solidFill>
          <a:ln w="19050">
            <a:solidFill>
              <a:srgbClr val="49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621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69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all game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69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Pygame Zero 1.2.1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17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sprites, keys, mouse, music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Pygame 2.6.1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766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fullscreen, sounds,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766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Jersey 10 font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14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SIL Open Font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15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HTML +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63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the studio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863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</a:rPr>
              <a:t>PyInstaller · itch.io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11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release path, in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5550" y="1390650"/>
            <a:ext cx="533400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8400" y="1333500"/>
            <a:ext cx="5334000" cy="4572000"/>
          </a:xfrm>
          <a:prstGeom prst="rect">
            <a:avLst/>
          </a:prstGeom>
          <a:solidFill>
            <a:srgbClr val="0F131C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1562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4CD7F6"/>
                </a:solidFill>
                <a:latin typeface="Space Grotesk"/>
              </a:rPr>
              <a:t>ONE GIT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1943100"/>
            <a:ext cx="47625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PVS/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├── Crab-game/            Crab Quest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├── space-game/           Space X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│   ├── screens/  levels/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│   ├── parts/    data/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│   └── images/ music/ fonts/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├── pixel-verse-studios/  website</a:t>
            </a:r>
          </a:p>
          <a:p>
            <a:pPr algn="l">
              <a:lnSpc>
                <a:spcPct val="150000"/>
              </a:lnSpc>
            </a:pPr>
            <a:r>
              <a:rPr sz="1425" b="0">
                <a:solidFill>
                  <a:srgbClr val="CFD3E4"/>
                </a:solidFill>
                <a:latin typeface="Courier New"/>
              </a:rPr>
              <a:t>└── docs/                 this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FFFFFF"/>
                </a:solidFill>
                <a:latin typeface="Space Grotesk"/>
              </a:rPr>
              <a:t>Five people. Two games.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9605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605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75" b="0">
                <a:solidFill>
                  <a:srgbClr val="958EA0"/>
                </a:solidFill>
                <a:latin typeface="Inter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1581150"/>
            <a:ext cx="2000250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24000"/>
            <a:ext cx="2000250" cy="257175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iam_190x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619250"/>
            <a:ext cx="1809750" cy="1809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562350"/>
            <a:ext cx="1847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pace Grotesk"/>
              </a:rPr>
              <a:t>Mariam Alaa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5600" y="1581150"/>
            <a:ext cx="2000250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8450" y="1524000"/>
            <a:ext cx="2000250" cy="257175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lim_190x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1619250"/>
            <a:ext cx="1809750" cy="1809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4650" y="3562350"/>
            <a:ext cx="1847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pace Grotesk"/>
              </a:rPr>
              <a:t>Selim Loai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4450" y="1581150"/>
            <a:ext cx="2000250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67300" y="1524000"/>
            <a:ext cx="2000250" cy="257175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hamed_190x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1619250"/>
            <a:ext cx="1809750" cy="1809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3500" y="3562350"/>
            <a:ext cx="1847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pace Grotesk"/>
              </a:rPr>
              <a:t>Mohamed Loai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3300" y="1581150"/>
            <a:ext cx="2000250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6150" y="1524000"/>
            <a:ext cx="2000250" cy="257175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dhat_190x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1619250"/>
            <a:ext cx="1809750" cy="1809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2350" y="3562350"/>
            <a:ext cx="1847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pace Grotesk"/>
              </a:rPr>
              <a:t>Medhat Ali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82150" y="1581150"/>
            <a:ext cx="2000250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25000" y="1524000"/>
            <a:ext cx="2000250" cy="2571750"/>
          </a:xfrm>
          <a:prstGeom prst="rect">
            <a:avLst/>
          </a:prstGeom>
          <a:solidFill>
            <a:srgbClr val="1C1F29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alah_190x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1619250"/>
            <a:ext cx="1809750" cy="1809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01200" y="3562350"/>
            <a:ext cx="1847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pace Grotesk"/>
              </a:rPr>
              <a:t>Salah Mohamed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4572000"/>
            <a:ext cx="10972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D0BCFF"/>
                </a:solidFill>
                <a:latin typeface="Space Grotesk"/>
              </a:rPr>
              <a:t>Pixel Verse Studios: two complete educational games, with real facts and one clean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857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600" b="1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D0BCFF"/>
                </a:solidFill>
                <a:latin typeface="Jersey 10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65747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2571750"/>
            <a:ext cx="6400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Windows builds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857500"/>
            <a:ext cx="640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Package both games with PyInstaller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57187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486150"/>
            <a:ext cx="6400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An itch.io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71900"/>
            <a:ext cx="640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Both games, screenshots, controls and downloads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486275"/>
            <a:ext cx="114300" cy="1143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4400550"/>
            <a:ext cx="64008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FFFFFF"/>
                </a:solidFill>
                <a:latin typeface="Space Grotesk"/>
              </a:rPr>
              <a:t>Test on a clean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686300"/>
            <a:ext cx="640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>
                <a:solidFill>
                  <a:srgbClr val="CBC3D7"/>
                </a:solidFill>
                <a:latin typeface="Inter"/>
              </a:rPr>
              <a:t>Every chapter and every level, music on and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0" y="1238250"/>
            <a:ext cx="2857500" cy="32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-site_276x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0" y="1352550"/>
            <a:ext cx="2628900" cy="2628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2000" y="40386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75" b="0">
                <a:solidFill>
                  <a:srgbClr val="14213D"/>
                </a:solidFill>
                <a:latin typeface="Inter"/>
              </a:rPr>
              <a:t>Scan to visit the studio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750" y="4629150"/>
            <a:ext cx="2952750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rtners_293x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4686300"/>
            <a:ext cx="2790825" cy="76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71500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BC3D7"/>
                </a:solidFill>
                <a:latin typeface="Inter"/>
              </a:rPr>
              <a:t>Pixel Verse Studios · AFFIAT · Afro-Asian Forum for Innovation and Technology · Aswan Finals 2026 · Games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0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57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1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0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9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86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43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58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86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154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012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298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584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870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5156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7442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728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2014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4300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658600" y="6629400"/>
            <a:ext cx="228600" cy="228600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887200" y="6629400"/>
            <a:ext cx="228600" cy="228600"/>
          </a:xfrm>
          <a:prstGeom prst="rect">
            <a:avLst/>
          </a:prstGeom>
          <a:solidFill>
            <a:srgbClr val="4CD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115800" y="6629400"/>
            <a:ext cx="228600" cy="228600"/>
          </a:xfrm>
          <a:prstGeom prst="rect">
            <a:avLst/>
          </a:prstGeom>
          <a:solidFill>
            <a:srgbClr val="4E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